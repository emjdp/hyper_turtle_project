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2AB495-98A4-4ABB-BFD1-407BFDEC50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C8BF8F-617E-4265-A131-8660DEC88D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D27228-456A-4D95-8D98-D02518DFA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489E92-CFAE-4FB0-8AF8-BA77615EE2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D8BFF9-E0A2-48B7-9786-6668B61074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56F563-14B0-488B-9DF4-5C65CD727E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A618EA-C366-42C1-948C-E29C9D3A02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4ADF5B-6F4F-4907-80C8-C4DB633BAF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355391-7DCB-4C8D-85C8-8BBFC2C92D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58440C-5DDB-4E69-84B8-3442EB6784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EA8EF7-C457-4526-A606-00C9C12BCF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914400" y="1828800"/>
            <a:ext cx="109440" cy="292572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188720" y="1737360"/>
            <a:ext cx="10058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zh-CN" sz="5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거북이 달리자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&amp; C920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스테레오 카메라와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LiDAR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기반 전정대 실내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지도 작성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188720" y="41148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1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조 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//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김강산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이성빈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최호준</a:t>
            </a:r>
            <a:r>
              <a:rPr lang="en-US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, </a:t>
            </a:r>
            <a:r>
              <a:rPr lang="zh-CN" sz="1400" b="1" u="none" strike="noStrike">
                <a:solidFill>
                  <a:srgbClr val="118DFF"/>
                </a:solidFill>
                <a:effectLst/>
                <a:uFillTx/>
                <a:latin typeface="IBM Plex Sans"/>
              </a:rPr>
              <a:t>박성호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ROS2 Jazzy + Ubuntu 24.04 // WebGL 3D Mapping Project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01 // OVERVIEW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31520" y="594360"/>
            <a:ext cx="1072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초기 목표 및 역할 분담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05840" y="1737360"/>
            <a:ext cx="4571640" cy="18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PROJECT INCEPTION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초기 목표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RGBD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카메라를 달고 실내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전정대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스캔하여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격자 지도를 생성하는 것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신속한 시작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첫 미팅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(05/10)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시 로봇팀과 비전팀을 분할하고 전체적인 구조를 정의함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1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차 성과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컨트롤러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(Gamepad)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활용하여 시뮬레이터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(RViz)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상의 터틀봇을 무선 조종하는 데 즉시 성공함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6583680" y="1737360"/>
            <a:ext cx="4571640" cy="31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ROLES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로봇팀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(Robot Team):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박성호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김강산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이성빈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HW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셋업 및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ROS2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포팅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무선 조종 시스템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(Xbox controller)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구축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자동 부팅 및 통신 인프라 설계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비전팀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(Vision Team):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최호준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이성빈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 데이터 취득 및 오정차 보정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Pointcloud 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매핑 및 가시화 연구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- WebGL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기반 최종 맵 뷰어 개발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02 // CHALLENGE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HW &amp; SW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1005840" y="1737360"/>
            <a:ext cx="4571640" cy="18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UNEXPECTED CRISIS &amp; ADJUSTMENT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RGBD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카메라 대여 불가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초기 계획의 핵심이었던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RGBD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센서를 사용할 수 없게 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대안 수립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 C270(HD)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웹캠을 수령함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스테레오 카메라 구축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지급받은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웹캠과 개인 소장품인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C920(FHD)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웹캠을 프레임 개조를 통해 결합하여 저가형 스테레오 카메라 시스템을 구성함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6583680" y="1737360"/>
            <a:ext cx="4571640" cy="20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HARDWARE &amp; SOFTWARE UPGRADE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라즈베리파이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4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업그레이드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Pi 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속도 병목을 해결하기 위해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Pi 4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HW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업그레이드함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ROS2 Jazzy + Ubuntu 24.04: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최신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OS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및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ROS2 LTS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버전을 직접 빌드하고 적용하여 시스템 안정화 도모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자동화 시스템 구축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KHU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와이파이 자동 접속 설정 완료 후 부팅 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systemd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서비스로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IP Broadcast + SSH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자동 활성화 환경 구축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04 // ROBOT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로봇팀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118D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1005840" y="1737360"/>
            <a:ext cx="4571640" cy="18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731520" y="365760"/>
            <a:ext cx="10728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03 // DIAGNOSIS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비전팀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15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16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7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2" descr="기존_ICP_merge_결과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520" cy="347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731520" y="365760"/>
            <a:ext cx="10728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03 // DIAGNOSIS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1005840" y="1737360"/>
            <a:ext cx="4571640" cy="27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POINTCLOUD FAILURES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기존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Pointcloud 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매핑 실패 원인 분석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원형 안개 현상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벽과 복도가 뚜렷해야 할 스캔 결과가 마치 둥근 안개처럼 뭉개짐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CameraInfo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빈 값 에러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C270/C920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모두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intrinsic, distortion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파라메터 정보가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empty(0)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저장되어 보정 불능 상태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카메라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TF 45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도 오류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파일 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C270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TF Yaw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값이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45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도 회전된 값으로 영구 기록됨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실제 하드웨어는 거의 평행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odom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원점 불일치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 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파일마다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odom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절대 기준 좌표가 달라 병합 곤란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10" descr="기존_ICP_merge_결과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5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11"/>
          <p:cNvSpPr/>
          <p:nvPr/>
        </p:nvSpPr>
        <p:spPr>
          <a:xfrm>
            <a:off x="6492240" y="5303520"/>
            <a:ext cx="4754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기존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ICP merge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결과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: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구조가 뭉개져 안개처럼 흩뿌려짐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05 // VISION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 LiDAR Floorplan Fallback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1005840" y="1737360"/>
            <a:ext cx="4571640" cy="28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LIDAR ANCHORED MAPPING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방향 전환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안개처럼 퍼지는 불안정한 스테레오 카메라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depth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대신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신뢰할 수 있는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LDS-01 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데이터를 구조적 뼈대로 쓰기로 선회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Floorplan Fallback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알고리즘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1. 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에러값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최장거리 바운더리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필터링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2. Trajectory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에서 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endpoint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까지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ray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를 투사하여 빈 공간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(Free-space)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확보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3. Occupied cell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들을 평면 그리드 상에 배치하여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floorplan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도출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3D Wall Extrusion: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추출한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floorplan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2.2m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높이의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mesh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수직 압출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(extrude)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하여 입체감 확보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10" descr="LiDAR_true_3D_scene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5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6492240" y="530352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LiDAR floorplan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을 기반으로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3D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벽을 세우고 이동 궤적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(Red)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을 표시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06 // VISUALIZATION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731520" y="594360"/>
            <a:ext cx="1072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파노라마 스티칭 및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WebGL 3D 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투어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1005840" y="1737360"/>
            <a:ext cx="45716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PANORAMIC TEXTURING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C920 Photo Map: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획득한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keyframe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이미지들을 로봇 궤적 노드에 배치하여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2.5D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방식의 지도 매핑 시도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Image Stitching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도입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연속된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C920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프레임들을 이미지 스티칭으로 정교하게 이어 붙여 파노라마 이미지를 획득함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WebGL Curved Mesh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래핑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구부러진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평면에 파노라마 이미지를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texture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투영하여 몰입감 있는 뷰어 제작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14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개 노드 통합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Tour: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 bag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에서 추출한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14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개 노드를 웹 가상 투어로 연계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사용자가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WASD/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마우스로 시점을 조작하며 노드 간 이동 가능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10" descr="Multi_node_stitched_tour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5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11"/>
          <p:cNvSpPr/>
          <p:nvPr/>
        </p:nvSpPr>
        <p:spPr>
          <a:xfrm>
            <a:off x="6492240" y="530352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Multi-node panorama stitched tour WebGL viewer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시뮬레이션 화면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07 // FINAL OUTCOME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731520" y="594360"/>
            <a:ext cx="10728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Edge-Textured True 3D Map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24A1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1005840" y="1737360"/>
            <a:ext cx="4571640" cy="27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24A148"/>
                </a:solidFill>
                <a:effectLst/>
                <a:uFillTx/>
                <a:latin typeface="Calibri"/>
              </a:rPr>
              <a:t>EDGE-TEXTURED TRUE 3D 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최종 통합 매핑 솔루션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카메라의 에지와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벽면 그리드를 결합하여 실제 벽면에 이미지를 입히는 최신 기법 적용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Raycast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기반 매칭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run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에서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C920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프레임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18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개를 추출하고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개 영역 패치로 분할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Canny edge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및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contour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계산 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LiDAR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바운더리에 매칭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수직 텍스처 패널 배치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실제 물체가 있는 곳에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90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개의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Edge-textured vertical panel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을 적재적소에 빌딩함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좌표 축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Yaw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버그 해결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ROS(odom)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좌표계와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WebGL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의 카메라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forward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축 불일치를 보정하여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(`camera.yaw = pi/2 - panel.yaw`)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정확한 시선 일치 성공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5" name="Picture 10" descr="최종_Edge_textured_3D_map_desktop.jpeg"/>
          <p:cNvPicPr/>
          <p:nvPr/>
        </p:nvPicPr>
        <p:blipFill>
          <a:blip r:embed="rId1"/>
          <a:stretch/>
        </p:blipFill>
        <p:spPr>
          <a:xfrm>
            <a:off x="6492240" y="1737360"/>
            <a:ext cx="47545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11"/>
          <p:cNvSpPr/>
          <p:nvPr/>
        </p:nvSpPr>
        <p:spPr>
          <a:xfrm>
            <a:off x="6492240" y="530352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▲ 최종 완성된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Edge-textured 3D map WebGL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뷰어 </a:t>
            </a:r>
            <a:r>
              <a:rPr lang="en-US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PC </a:t>
            </a:r>
            <a:r>
              <a:rPr lang="zh-CN" sz="1100" b="0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화면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D8D8D"/>
                </a:solidFill>
                <a:effectLst/>
                <a:uFillTx/>
                <a:latin typeface="IBM Plex Sans"/>
              </a:rPr>
              <a:t>09 // RETROSPECTIVE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731520" y="594360"/>
            <a:ext cx="1072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프로젝트 성찰과 하드웨어적 한계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731520" y="1188720"/>
            <a:ext cx="10728360" cy="18000"/>
          </a:xfrm>
          <a:prstGeom prst="rect">
            <a:avLst/>
          </a:prstGeom>
          <a:solidFill>
            <a:srgbClr val="3939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73152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6"/>
          <p:cNvSpPr/>
          <p:nvPr/>
        </p:nvSpPr>
        <p:spPr>
          <a:xfrm>
            <a:off x="731520" y="1554480"/>
            <a:ext cx="72720" cy="4571640"/>
          </a:xfrm>
          <a:prstGeom prst="rect">
            <a:avLst/>
          </a:prstGeom>
          <a:solidFill>
            <a:srgbClr val="DA1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005840" y="1737360"/>
            <a:ext cx="4571640" cy="18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DA1E28"/>
                </a:solidFill>
                <a:effectLst/>
                <a:uFillTx/>
                <a:latin typeface="Calibri"/>
              </a:rPr>
              <a:t>HARDWARE LIMITATIONS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극심한 배터리 소모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셀 배터리를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90%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까지 충전하고 단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분 주행하자 전압 부족으로 모터가 멈추는 저배터리 문제 봉착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느린 주행 속도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터틀봇의 속도로 전정대 전체를 주행하며 실시간 지도 작성을 하기엔 태생적 구동 한계 존재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카메라 흔들림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프린터 등으로 고정 지지대를 정밀하게 뽑지 못해 임시 고정한 카메라가 진동에 따라 미세하게 흔들림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8"/>
          <p:cNvSpPr/>
          <p:nvPr/>
        </p:nvSpPr>
        <p:spPr>
          <a:xfrm>
            <a:off x="6309360" y="1554480"/>
            <a:ext cx="5120280" cy="45716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6309360" y="1554480"/>
            <a:ext cx="72720" cy="4571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6583680" y="1737360"/>
            <a:ext cx="4571640" cy="19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1" u="none" strike="noStrike">
                <a:solidFill>
                  <a:srgbClr val="118DFF"/>
                </a:solidFill>
                <a:effectLst/>
                <a:uFillTx/>
                <a:latin typeface="Calibri"/>
              </a:rPr>
              <a:t>DATA ISSUES &amp; CONCLUSION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로깅 데이터 결함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ROS bag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기록 후 확인 결과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CameraInfo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데이터가 완전히 유실되었고 각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bag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마다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odom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원점이 통일되지 않은 난관 극복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• 결론 및 의의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: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초기의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dense stereo pointcloud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복원은 한계가 뚜렷했지만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, LiDAR/Pose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로 기하적 중심을 잡고 실제 사진을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Edge-texturing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으로 투영하는 창의적인 가상 뷰어 방식으로 전정대 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3D </a:t>
            </a:r>
            <a:r>
              <a:rPr lang="zh-CN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맵 빌딩 목표를 초과 달성함</a:t>
            </a:r>
            <a:r>
              <a:rPr lang="en-US" sz="13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2"/>
          <p:cNvSpPr/>
          <p:nvPr/>
        </p:nvSpPr>
        <p:spPr>
          <a:xfrm>
            <a:off x="914400" y="2011680"/>
            <a:ext cx="109440" cy="228564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1188720" y="1920240"/>
            <a:ext cx="1005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Q &amp; A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질문 및 답변 시간 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// </a:t>
            </a:r>
            <a:r>
              <a:rPr lang="zh-CN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발표를 경청해주셔서 감사합니다</a:t>
            </a:r>
            <a:r>
              <a:rPr lang="en-US" sz="1800" b="0" u="none" strike="noStrike">
                <a:solidFill>
                  <a:srgbClr val="C6C6C6"/>
                </a:solidFill>
                <a:effectLst/>
                <a:uFillTx/>
                <a:latin typeface="IBM Plex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2026-06-03T22:10:17Z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