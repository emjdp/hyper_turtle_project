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7772400" cy="10058400"/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 showNarration="1">
    <p:extLst>
      <p:ext uri="{2FDB2607-1784-4EEB-B798-7EB5836EED8A}">
        <p14:showMediaCtrls xmlns:p14="http://schemas.microsoft.com/office/powerpoint/2010/main" val="1"/>
      </p:ext>
    </p:extLst>
  </p:showPr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snapVertSplitter="1">
    <p:restoredLeft sz="12579"/>
    <p:restoredTop sz="90000"/>
  </p:normalViewPr>
  <p:slideViewPr>
    <p:cSldViewPr snapToGrid="0" snapToObjects="1">
      <p:cViewPr varScale="1">
        <p:scale>
          <a:sx n="100" d="100"/>
          <a:sy n="100" d="100"/>
        </p:scale>
        <p:origin x="0" y="0"/>
      </p:cViewPr>
      <p:guideLst>
        <p:guide orient="horz" pos="2159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9" cy="72009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9.xml"  /><Relationship Id="rId11" Type="http://schemas.openxmlformats.org/officeDocument/2006/relationships/slide" Target="slides/slide10.xml"  /><Relationship Id="rId12" Type="http://schemas.openxmlformats.org/officeDocument/2006/relationships/slide" Target="slides/slide11.xml"  /><Relationship Id="rId13" Type="http://schemas.openxmlformats.org/officeDocument/2006/relationships/slide" Target="slides/slide12.xml"  /><Relationship Id="rId14" Type="http://schemas.openxmlformats.org/officeDocument/2006/relationships/slide" Target="slides/slide13.xml"  /><Relationship Id="rId15" Type="http://schemas.openxmlformats.org/officeDocument/2006/relationships/presProps" Target="presProps.xml"  /><Relationship Id="rId16" Type="http://schemas.openxmlformats.org/officeDocument/2006/relationships/viewProps" Target="viewProps.xml"  /><Relationship Id="rId17" Type="http://schemas.openxmlformats.org/officeDocument/2006/relationships/theme" Target="theme/theme1.xml"  /><Relationship Id="rId18" Type="http://schemas.openxmlformats.org/officeDocument/2006/relationships/tableStyles" Target="tableStyles.xml"  /><Relationship Id="rId2" Type="http://schemas.openxmlformats.org/officeDocument/2006/relationships/slide" Target="slides/slide1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slide" Target="slides/slide7.xml"  /><Relationship Id="rId9" Type="http://schemas.openxmlformats.org/officeDocument/2006/relationships/slide" Target="slides/slide8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919DAC9C-9F6E-4EC2-A6FF-08B37B81FB9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the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text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blank" preserve="1">
  <p:cSld name="Content with Caption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440" cy="1161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0920" cy="585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440" cy="469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A1555174-3FF6-4439-9BBF-33DBD465541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blank" preserve="1">
  <p:cSld name="Picture with Caption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5680" cy="56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5680" cy="80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6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09DF6C91-2C18-4E7D-8A33-B258FB8271C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" preserve="1">
  <p:cSld name="Title Slide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342272DE-441C-41DE-9368-17C6F0AD247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vertTx" preserve="1">
  <p:cSld name="Title and Vertical Text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D6D04EA5-C201-4B0F-A25C-47939F87706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vertTitleAndTx" preserve="1">
  <p:cSld name="Vertical Title and Text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6680" cy="585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200" cy="585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52697545-FA2D-4684-B659-A4CF5A1E895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7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" preserve="1">
  <p:cSld name="Title and Content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CB757E63-893C-419F-AFD4-C63BF8C6A5B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8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blank" preserve="1">
  <p:cSld name="Section Header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1680" cy="1361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1680" cy="149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83A9F2E2-C9F2-4208-8F2E-1E04D76D7DA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9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woObj" preserve="1">
  <p:cSld name="Two Content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6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785B0A5E-70F2-4138-B5A2-5B55827BC05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56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56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00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00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8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829596D7-3F6B-46C6-8170-66A63DEDDAB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Only" preserve="1">
  <p:cSld name="Title Only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E1125E65-D07B-45A8-9D1B-D3847D322CF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1.xml"  /><Relationship Id="rId10" Type="http://schemas.openxmlformats.org/officeDocument/2006/relationships/slideLayout" Target="../slideLayouts/slideLayout9.xml"  /><Relationship Id="rId11" Type="http://schemas.openxmlformats.org/officeDocument/2006/relationships/slideLayout" Target="../slideLayouts/slideLayout10.xml"  /><Relationship Id="rId12" Type="http://schemas.openxmlformats.org/officeDocument/2006/relationships/slideLayout" Target="../slideLayouts/slideLayout11.xml"  /><Relationship Id="rId2" Type="http://schemas.openxmlformats.org/officeDocument/2006/relationships/slideLayout" Target="../slideLayouts/slideLayout1.xml"  /><Relationship Id="rId3" Type="http://schemas.openxmlformats.org/officeDocument/2006/relationships/slideLayout" Target="../slideLayouts/slideLayout2.xml"  /><Relationship Id="rId4" Type="http://schemas.openxmlformats.org/officeDocument/2006/relationships/slideLayout" Target="../slideLayouts/slideLayout3.xml"  /><Relationship Id="rId5" Type="http://schemas.openxmlformats.org/officeDocument/2006/relationships/slideLayout" Target="../slideLayouts/slideLayout4.xml"  /><Relationship Id="rId6" Type="http://schemas.openxmlformats.org/officeDocument/2006/relationships/slideLayout" Target="../slideLayouts/slideLayout5.xml"  /><Relationship Id="rId7" Type="http://schemas.openxmlformats.org/officeDocument/2006/relationships/slideLayout" Target="../slideLayouts/slideLayout6.xml"  /><Relationship Id="rId8" Type="http://schemas.openxmlformats.org/officeDocument/2006/relationships/slideLayout" Target="../slideLayouts/slideLayout7.xml"  /><Relationship Id="rId9" Type="http://schemas.openxmlformats.org/officeDocument/2006/relationships/slideLayout" Target="../slideLayouts/slideLayout8.xml" 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image" Target="../media/image1.jpeg"  /><Relationship Id="rId2" Type="http://schemas.openxmlformats.org/officeDocument/2006/relationships/image" Target="../media/image2.jpeg"  /><Relationship Id="rId3" Type="http://schemas.openxmlformats.org/officeDocument/2006/relationships/slideLayout" Target="../slideLayouts/slideLayout1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image" Target="../media/image3.jpeg"  /><Relationship Id="rId2" Type="http://schemas.openxmlformats.org/officeDocument/2006/relationships/image" Target="../media/image4.jpeg"  /><Relationship Id="rId3" Type="http://schemas.openxmlformats.org/officeDocument/2006/relationships/slideLayout" Target="../slideLayouts/slideLayout10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5.jpe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5.jpe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image" Target="../media/image6.png"  /><Relationship Id="rId2" Type="http://schemas.openxmlformats.org/officeDocument/2006/relationships/slideLayout" Target="../slideLayouts/slideLayout1.xml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image" Target="../media/image7.jpeg"  /><Relationship Id="rId2" Type="http://schemas.openxmlformats.org/officeDocument/2006/relationships/image" Target="../media/image8.jpeg"  /><Relationship Id="rId3" Type="http://schemas.openxmlformats.org/officeDocument/2006/relationships/slideLayout" Target="../slideLayouts/slideLayout1.xml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image" Target="../media/image9.jpeg"  /><Relationship Id="rId2" Type="http://schemas.openxmlformats.org/officeDocument/2006/relationships/slideLayout" Target="../slideLayouts/slideLayout1.xml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image" Target="../media/image10.jpeg"  /><Relationship Id="rId2" Type="http://schemas.openxmlformats.org/officeDocument/2006/relationships/slideLayout" Target="../slideLayouts/slideLayout1.xml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1616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Rectangle 2"/>
          <p:cNvSpPr/>
          <p:nvPr/>
        </p:nvSpPr>
        <p:spPr>
          <a:xfrm>
            <a:off x="914400" y="1828800"/>
            <a:ext cx="109080" cy="2925360"/>
          </a:xfrm>
          <a:prstGeom prst="rect">
            <a:avLst/>
          </a:prstGeom>
          <a:solidFill>
            <a:srgbClr val="0F62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tIns="45000" rIns="5472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" name="TextBox 3"/>
          <p:cNvSpPr/>
          <p:nvPr/>
        </p:nvSpPr>
        <p:spPr>
          <a:xfrm>
            <a:off x="1188720" y="1737360"/>
            <a:ext cx="10057680" cy="164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zh-CN" sz="54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거북이 달리자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C270 &amp; C920 </a:t>
            </a:r>
            <a:r>
              <a:rPr lang="zh-CN" sz="18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스테레오 카메라와 </a:t>
            </a:r>
            <a:r>
              <a:rPr lang="en-US" sz="18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LiDAR </a:t>
            </a:r>
            <a:r>
              <a:rPr lang="zh-CN" sz="18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기반 전정대 실내 </a:t>
            </a:r>
            <a:r>
              <a:rPr lang="en-US" sz="18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3D </a:t>
            </a:r>
            <a:r>
              <a:rPr lang="zh-CN" sz="18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지도 작성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4"/>
          <p:cNvSpPr/>
          <p:nvPr/>
        </p:nvSpPr>
        <p:spPr>
          <a:xfrm>
            <a:off x="1188720" y="4114800"/>
            <a:ext cx="1005768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18DFF"/>
                </a:solidFill>
                <a:effectLst/>
                <a:uFillTx/>
                <a:latin typeface="IBM Plex Sans"/>
              </a:rPr>
              <a:t>1</a:t>
            </a:r>
            <a:r>
              <a:rPr lang="zh-CN" sz="1400" b="1" u="none" strike="noStrike">
                <a:solidFill>
                  <a:srgbClr val="118DFF"/>
                </a:solidFill>
                <a:effectLst/>
                <a:uFillTx/>
                <a:latin typeface="IBM Plex Sans"/>
              </a:rPr>
              <a:t>조 </a:t>
            </a:r>
            <a:r>
              <a:rPr lang="en-US" sz="1400" b="1" u="none" strike="noStrike">
                <a:solidFill>
                  <a:srgbClr val="118DFF"/>
                </a:solidFill>
                <a:effectLst/>
                <a:uFillTx/>
                <a:latin typeface="IBM Plex Sans"/>
              </a:rPr>
              <a:t>// </a:t>
            </a:r>
            <a:r>
              <a:rPr lang="zh-CN" sz="1400" b="1" u="none" strike="noStrike">
                <a:solidFill>
                  <a:srgbClr val="118DFF"/>
                </a:solidFill>
                <a:effectLst/>
                <a:uFillTx/>
                <a:latin typeface="IBM Plex Sans"/>
              </a:rPr>
              <a:t>김강산</a:t>
            </a:r>
            <a:r>
              <a:rPr lang="en-US" sz="1400" b="1" u="none" strike="noStrike">
                <a:solidFill>
                  <a:srgbClr val="118DFF"/>
                </a:solidFill>
                <a:effectLst/>
                <a:uFillTx/>
                <a:latin typeface="IBM Plex Sans"/>
              </a:rPr>
              <a:t>, </a:t>
            </a:r>
            <a:r>
              <a:rPr lang="zh-CN" sz="1400" b="1" u="none" strike="noStrike">
                <a:solidFill>
                  <a:srgbClr val="118DFF"/>
                </a:solidFill>
                <a:effectLst/>
                <a:uFillTx/>
                <a:latin typeface="IBM Plex Sans"/>
              </a:rPr>
              <a:t>이성빈</a:t>
            </a:r>
            <a:r>
              <a:rPr lang="en-US" sz="1400" b="1" u="none" strike="noStrike">
                <a:solidFill>
                  <a:srgbClr val="118DFF"/>
                </a:solidFill>
                <a:effectLst/>
                <a:uFillTx/>
                <a:latin typeface="IBM Plex Sans"/>
              </a:rPr>
              <a:t>, </a:t>
            </a:r>
            <a:r>
              <a:rPr lang="zh-CN" sz="1400" b="1" u="none" strike="noStrike">
                <a:solidFill>
                  <a:srgbClr val="118DFF"/>
                </a:solidFill>
                <a:effectLst/>
                <a:uFillTx/>
                <a:latin typeface="IBM Plex Sans"/>
              </a:rPr>
              <a:t>최호준</a:t>
            </a:r>
            <a:r>
              <a:rPr lang="en-US" sz="1400" b="1" u="none" strike="noStrike">
                <a:solidFill>
                  <a:srgbClr val="118DFF"/>
                </a:solidFill>
                <a:effectLst/>
                <a:uFillTx/>
                <a:latin typeface="IBM Plex Sans"/>
              </a:rPr>
              <a:t>, </a:t>
            </a:r>
            <a:r>
              <a:rPr lang="zh-CN" sz="1400" b="1" u="none" strike="noStrike">
                <a:solidFill>
                  <a:srgbClr val="118DFF"/>
                </a:solidFill>
                <a:effectLst/>
                <a:uFillTx/>
                <a:latin typeface="IBM Plex Sans"/>
              </a:rPr>
              <a:t>박성호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D8D8D"/>
                </a:solidFill>
                <a:effectLst/>
                <a:uFillTx/>
                <a:latin typeface="IBM Plex Sans"/>
              </a:rPr>
              <a:t>ROS2 Jazzy + Ubuntu 24.04 // WebGL 3D Mapping Project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1616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" name="TextBox 2"/>
          <p:cNvSpPr/>
          <p:nvPr/>
        </p:nvSpPr>
        <p:spPr>
          <a:xfrm>
            <a:off x="731520" y="365760"/>
            <a:ext cx="107280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8D8D8D"/>
                </a:solidFill>
                <a:effectLst/>
                <a:uFillTx/>
                <a:latin typeface="IBM Plex Sans"/>
              </a:rPr>
              <a:t>01 // OVERVIEW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3"/>
          <p:cNvSpPr/>
          <p:nvPr/>
        </p:nvSpPr>
        <p:spPr>
          <a:xfrm>
            <a:off x="731520" y="594360"/>
            <a:ext cx="1072800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24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초기 목표 및 역할 분담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Rectangle 4"/>
          <p:cNvSpPr/>
          <p:nvPr/>
        </p:nvSpPr>
        <p:spPr>
          <a:xfrm>
            <a:off x="731520" y="1188720"/>
            <a:ext cx="10728000" cy="17640"/>
          </a:xfrm>
          <a:prstGeom prst="rect">
            <a:avLst/>
          </a:prstGeom>
          <a:solidFill>
            <a:srgbClr val="39393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" name="Rectangle 5"/>
          <p:cNvSpPr/>
          <p:nvPr/>
        </p:nvSpPr>
        <p:spPr>
          <a:xfrm>
            <a:off x="731520" y="1554480"/>
            <a:ext cx="5119920" cy="4571280"/>
          </a:xfrm>
          <a:prstGeom prst="rect">
            <a:avLst/>
          </a:prstGeom>
          <a:solidFill>
            <a:srgbClr val="262626"/>
          </a:solidFill>
          <a:ln w="12700">
            <a:solidFill>
              <a:srgbClr val="39393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" name="Rectangle 6"/>
          <p:cNvSpPr/>
          <p:nvPr/>
        </p:nvSpPr>
        <p:spPr>
          <a:xfrm>
            <a:off x="731520" y="1554480"/>
            <a:ext cx="72360" cy="4571280"/>
          </a:xfrm>
          <a:prstGeom prst="rect">
            <a:avLst/>
          </a:prstGeom>
          <a:solidFill>
            <a:srgbClr val="0F62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360" tIns="45000" rIns="363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" name="TextBox 7"/>
          <p:cNvSpPr/>
          <p:nvPr/>
        </p:nvSpPr>
        <p:spPr>
          <a:xfrm>
            <a:off x="1005840" y="1737360"/>
            <a:ext cx="4571280" cy="183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2001"/>
              </a:spcAft>
            </a:pPr>
            <a:r>
              <a:rPr lang="en-US" sz="1200" b="1" u="none" strike="noStrike">
                <a:solidFill>
                  <a:srgbClr val="118DFF"/>
                </a:solidFill>
                <a:effectLst/>
                <a:uFillTx/>
                <a:latin typeface="Calibri"/>
              </a:rPr>
              <a:t>PROJECT INCEPTION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• 초기 목표</a:t>
            </a: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: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터틀봇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3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에 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RGBD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카메라를 달고 실내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(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전정대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)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를 스캔하여 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3D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격자 지도를 생성하는 것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• 신속한 시작</a:t>
            </a: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: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첫 미팅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(05/10)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시 로봇팀과 비전팀을 분할하고 전체적인 구조를 정의함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• 1</a:t>
            </a:r>
            <a:r>
              <a:rPr lang="zh-CN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차 성과</a:t>
            </a: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: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컨트롤러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(Gamepad)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를 활용하여 시뮬레이터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(RViz)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상의 터틀봇을 무선 조종하는 데 즉시 성공함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Rectangle 8"/>
          <p:cNvSpPr/>
          <p:nvPr/>
        </p:nvSpPr>
        <p:spPr>
          <a:xfrm>
            <a:off x="6309360" y="1554480"/>
            <a:ext cx="5119920" cy="4571280"/>
          </a:xfrm>
          <a:prstGeom prst="rect">
            <a:avLst/>
          </a:prstGeom>
          <a:solidFill>
            <a:srgbClr val="262626"/>
          </a:solidFill>
          <a:ln w="12700">
            <a:solidFill>
              <a:srgbClr val="39393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" name="Rectangle 9"/>
          <p:cNvSpPr/>
          <p:nvPr/>
        </p:nvSpPr>
        <p:spPr>
          <a:xfrm>
            <a:off x="6309360" y="1554480"/>
            <a:ext cx="72360" cy="4571280"/>
          </a:xfrm>
          <a:prstGeom prst="rect">
            <a:avLst/>
          </a:prstGeom>
          <a:solidFill>
            <a:srgbClr val="39393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360" tIns="45000" rIns="363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" name="TextBox 10"/>
          <p:cNvSpPr/>
          <p:nvPr/>
        </p:nvSpPr>
        <p:spPr>
          <a:xfrm>
            <a:off x="6583680" y="1737360"/>
            <a:ext cx="4571280" cy="319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2001"/>
              </a:spcAf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TEAM ROLES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01"/>
              </a:spcAf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• 로봇팀 </a:t>
            </a: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(Robot Team):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박성호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,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김강산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,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이성빈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01"/>
              </a:spcAft>
            </a:pP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-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터틀봇 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HW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셋업 및 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ROS2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포팅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01"/>
              </a:spcAft>
            </a:pP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-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무선 조종 시스템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(Xbox controller)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구축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-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자동 부팅 및 통신 인프라 설계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• 비전팀 </a:t>
            </a: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(Vision Team):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최호준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,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이성빈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-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카메라 데이터 취득 및 오정차 보정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- Pointcloud 3D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매핑 및 가시화 연구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- WebGL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기반 최종 맵 뷰어 개발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1616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6" name="TextBox 2"/>
          <p:cNvSpPr/>
          <p:nvPr/>
        </p:nvSpPr>
        <p:spPr>
          <a:xfrm>
            <a:off x="731520" y="365760"/>
            <a:ext cx="107280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8D8D8D"/>
                </a:solidFill>
                <a:effectLst/>
                <a:uFillTx/>
                <a:latin typeface="IBM Plex Sans"/>
              </a:rPr>
              <a:t>02 // CHALLENGE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3"/>
          <p:cNvSpPr/>
          <p:nvPr/>
        </p:nvSpPr>
        <p:spPr>
          <a:xfrm>
            <a:off x="731520" y="594360"/>
            <a:ext cx="1072800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HW &amp; SW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Rectangle 4"/>
          <p:cNvSpPr/>
          <p:nvPr/>
        </p:nvSpPr>
        <p:spPr>
          <a:xfrm>
            <a:off x="731520" y="1188720"/>
            <a:ext cx="10728000" cy="17640"/>
          </a:xfrm>
          <a:prstGeom prst="rect">
            <a:avLst/>
          </a:prstGeom>
          <a:solidFill>
            <a:srgbClr val="39393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9" name="Rectangle 5"/>
          <p:cNvSpPr/>
          <p:nvPr/>
        </p:nvSpPr>
        <p:spPr>
          <a:xfrm>
            <a:off x="731520" y="1554480"/>
            <a:ext cx="5119920" cy="4571280"/>
          </a:xfrm>
          <a:prstGeom prst="rect">
            <a:avLst/>
          </a:prstGeom>
          <a:solidFill>
            <a:srgbClr val="262626"/>
          </a:solidFill>
          <a:ln w="12700">
            <a:solidFill>
              <a:srgbClr val="39393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" name="Rectangle 6"/>
          <p:cNvSpPr/>
          <p:nvPr/>
        </p:nvSpPr>
        <p:spPr>
          <a:xfrm>
            <a:off x="731520" y="1554480"/>
            <a:ext cx="72360" cy="4571280"/>
          </a:xfrm>
          <a:prstGeom prst="rect">
            <a:avLst/>
          </a:prstGeom>
          <a:solidFill>
            <a:srgbClr val="DA1E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360" tIns="45000" rIns="363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1" name="TextBox 7"/>
          <p:cNvSpPr/>
          <p:nvPr/>
        </p:nvSpPr>
        <p:spPr>
          <a:xfrm>
            <a:off x="1005840" y="1737360"/>
            <a:ext cx="4571280" cy="183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2001"/>
              </a:spcAft>
            </a:pPr>
            <a:r>
              <a:rPr lang="en-US" sz="1200" b="1" u="none" strike="noStrike">
                <a:solidFill>
                  <a:srgbClr val="DA1E28"/>
                </a:solidFill>
                <a:effectLst/>
                <a:uFillTx/>
                <a:latin typeface="Calibri"/>
              </a:rPr>
              <a:t>UNEXPECTED CRISIS &amp; ADJUSTMENT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• RGBD </a:t>
            </a:r>
            <a:r>
              <a:rPr lang="zh-CN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카메라 대여 불가</a:t>
            </a: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: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초기 계획의 핵심이었던 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RGBD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센서를 사용할 수 없게 됨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• 대안 수립</a:t>
            </a: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: 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 C270(HD)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웹캠을 수령함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• 스테레오 카메라 구축</a:t>
            </a: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: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지급받은 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C270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웹캠과 개인 소장품인 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C920(FHD)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웹캠을 프레임 개조를 통해 결합하여 저가형 스테레오 카메라 시스템을 구성함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Rectangle 8"/>
          <p:cNvSpPr/>
          <p:nvPr/>
        </p:nvSpPr>
        <p:spPr>
          <a:xfrm>
            <a:off x="6309360" y="1554480"/>
            <a:ext cx="5119920" cy="4571280"/>
          </a:xfrm>
          <a:prstGeom prst="rect">
            <a:avLst/>
          </a:prstGeom>
          <a:solidFill>
            <a:srgbClr val="262626"/>
          </a:solidFill>
          <a:ln w="12700">
            <a:solidFill>
              <a:srgbClr val="39393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3" name="Rectangle 9"/>
          <p:cNvSpPr/>
          <p:nvPr/>
        </p:nvSpPr>
        <p:spPr>
          <a:xfrm>
            <a:off x="6309360" y="1554480"/>
            <a:ext cx="72360" cy="4571280"/>
          </a:xfrm>
          <a:prstGeom prst="rect">
            <a:avLst/>
          </a:prstGeom>
          <a:solidFill>
            <a:srgbClr val="0F62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360" tIns="45000" rIns="363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4" name="TextBox 10"/>
          <p:cNvSpPr/>
          <p:nvPr/>
        </p:nvSpPr>
        <p:spPr>
          <a:xfrm>
            <a:off x="6583680" y="1737360"/>
            <a:ext cx="4571280" cy="20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2001"/>
              </a:spcAft>
            </a:pPr>
            <a:r>
              <a:rPr lang="en-US" sz="1200" b="1" u="none" strike="noStrike">
                <a:solidFill>
                  <a:srgbClr val="118DFF"/>
                </a:solidFill>
                <a:effectLst/>
                <a:uFillTx/>
                <a:latin typeface="Calibri"/>
              </a:rPr>
              <a:t>HARDWARE &amp; SOFTWARE UPGRADE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• 라즈베리파이 </a:t>
            </a: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4 </a:t>
            </a:r>
            <a:r>
              <a:rPr lang="zh-CN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업그레이드</a:t>
            </a: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: 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Pi 3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의 속도 병목을 해결하기 위해 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Pi 4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로 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HW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를 업그레이드함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• ROS2 Jazzy + Ubuntu 24.04: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최신 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OS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및 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ROS2 LTS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버전을 직접 빌드하고 적용하여 시스템 안정화 도모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• 자동화 시스템 구축</a:t>
            </a: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: 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KHU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와이파이 자동 접속 설정 완료 후 부팅 시 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systemd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서비스로 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IP Broadcast + SSH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자동 활성화 환경 구축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1616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6" name="TextBox 2"/>
          <p:cNvSpPr/>
          <p:nvPr/>
        </p:nvSpPr>
        <p:spPr>
          <a:xfrm>
            <a:off x="731520" y="365760"/>
            <a:ext cx="107280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8D8D8D"/>
                </a:solidFill>
                <a:effectLst/>
                <a:uFillTx/>
                <a:latin typeface="IBM Plex Sans"/>
              </a:rPr>
              <a:t>04 // ROBOT TEAM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3"/>
          <p:cNvSpPr/>
          <p:nvPr/>
        </p:nvSpPr>
        <p:spPr>
          <a:xfrm>
            <a:off x="731520" y="594360"/>
            <a:ext cx="1072800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24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로봇팀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Rectangle 4"/>
          <p:cNvSpPr/>
          <p:nvPr/>
        </p:nvSpPr>
        <p:spPr>
          <a:xfrm>
            <a:off x="731520" y="1188720"/>
            <a:ext cx="10728000" cy="17640"/>
          </a:xfrm>
          <a:prstGeom prst="rect">
            <a:avLst/>
          </a:prstGeom>
          <a:solidFill>
            <a:srgbClr val="39393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9" name="Rectangle 5"/>
          <p:cNvSpPr/>
          <p:nvPr/>
        </p:nvSpPr>
        <p:spPr>
          <a:xfrm>
            <a:off x="731520" y="1554480"/>
            <a:ext cx="5119920" cy="4571280"/>
          </a:xfrm>
          <a:prstGeom prst="rect">
            <a:avLst/>
          </a:prstGeom>
          <a:solidFill>
            <a:srgbClr val="262626"/>
          </a:solidFill>
          <a:ln w="12700">
            <a:solidFill>
              <a:srgbClr val="39393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0" name="Rectangle 6"/>
          <p:cNvSpPr/>
          <p:nvPr/>
        </p:nvSpPr>
        <p:spPr>
          <a:xfrm>
            <a:off x="731520" y="1554480"/>
            <a:ext cx="72360" cy="4571280"/>
          </a:xfrm>
          <a:prstGeom prst="rect">
            <a:avLst/>
          </a:prstGeom>
          <a:solidFill>
            <a:srgbClr val="118D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360" tIns="45000" rIns="363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1" name="TextBox 7"/>
          <p:cNvSpPr/>
          <p:nvPr/>
        </p:nvSpPr>
        <p:spPr>
          <a:xfrm>
            <a:off x="1005840" y="1689840"/>
            <a:ext cx="4439520" cy="331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500" b="1" u="none" strike="noStrike">
                <a:solidFill>
                  <a:srgbClr val="2A9FFF"/>
                </a:solidFill>
                <a:effectLst/>
                <a:uFillTx/>
                <a:latin typeface="IBM Plex Sans"/>
              </a:rPr>
              <a:t>ROBOT-SIDE ROS2 PIPELINE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8000"/>
              </a:lnSpc>
              <a:spcAft>
                <a:spcPts val="700"/>
              </a:spcAft>
            </a:pPr>
            <a:r>
              <a:rPr lang="en-US" sz="1600" b="0" u="none" strike="noStrike">
                <a:solidFill>
                  <a:srgbClr val="EBEBEB"/>
                </a:solidFill>
                <a:effectLst/>
                <a:uFillTx/>
                <a:latin typeface="IBM Plex Sans"/>
              </a:rPr>
              <a:t>TurtleBot3 Burger + LDS-01 + C920/C270 </a:t>
            </a:r>
            <a:r>
              <a:rPr lang="zh-CN" sz="1600" b="0" u="none" strike="noStrike">
                <a:solidFill>
                  <a:srgbClr val="EBEBEB"/>
                </a:solidFill>
                <a:effectLst/>
                <a:uFillTx/>
                <a:latin typeface="IBM Plex Sans"/>
              </a:rPr>
              <a:t>센서 구성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8000"/>
              </a:lnSpc>
              <a:spcAft>
                <a:spcPts val="700"/>
              </a:spcAft>
            </a:pPr>
            <a:r>
              <a:rPr lang="en-US" sz="1600" b="0" u="none" strike="noStrike">
                <a:solidFill>
                  <a:srgbClr val="EBEBEB"/>
                </a:solidFill>
                <a:effectLst/>
                <a:uFillTx/>
                <a:latin typeface="IBM Plex Sans"/>
              </a:rPr>
              <a:t>turtlebot3_node, usb_cam, TF/camera frame </a:t>
            </a:r>
            <a:r>
              <a:rPr lang="zh-CN" sz="1600" b="0" u="none" strike="noStrike">
                <a:solidFill>
                  <a:srgbClr val="EBEBEB"/>
                </a:solidFill>
                <a:effectLst/>
                <a:uFillTx/>
                <a:latin typeface="IBM Plex Sans"/>
              </a:rPr>
              <a:t>연결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8000"/>
              </a:lnSpc>
              <a:spcAft>
                <a:spcPts val="700"/>
              </a:spcAft>
            </a:pPr>
            <a:r>
              <a:rPr lang="en-US" sz="1600" b="0" u="none" strike="noStrike">
                <a:solidFill>
                  <a:srgbClr val="EBEBEB"/>
                </a:solidFill>
                <a:effectLst/>
                <a:uFillTx/>
                <a:latin typeface="IBM Plex Sans"/>
              </a:rPr>
              <a:t>Xbox </a:t>
            </a:r>
            <a:r>
              <a:rPr lang="zh-CN" sz="1600" b="0" u="none" strike="noStrike">
                <a:solidFill>
                  <a:srgbClr val="EBEBEB"/>
                </a:solidFill>
                <a:effectLst/>
                <a:uFillTx/>
                <a:latin typeface="IBM Plex Sans"/>
              </a:rPr>
              <a:t>조이스틱 입력 </a:t>
            </a:r>
            <a:r>
              <a:rPr lang="en-US" sz="1600" b="0" u="none" strike="noStrike">
                <a:solidFill>
                  <a:srgbClr val="EBEBEB"/>
                </a:solidFill>
                <a:effectLst/>
                <a:uFillTx/>
                <a:latin typeface="IBM Plex Sans"/>
              </a:rPr>
              <a:t>-&gt; UDP bridge -&gt; TwistStamped /cmd_vel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8000"/>
              </a:lnSpc>
              <a:spcAft>
                <a:spcPts val="700"/>
              </a:spcAft>
            </a:pPr>
            <a:r>
              <a:rPr lang="en-US" sz="1600" b="0" u="none" strike="noStrike">
                <a:solidFill>
                  <a:srgbClr val="EBEBEB"/>
                </a:solidFill>
                <a:effectLst/>
                <a:uFillTx/>
                <a:latin typeface="IBM Plex Sans"/>
              </a:rPr>
              <a:t>SSH deploy / bringup / record / fetch </a:t>
            </a:r>
            <a:r>
              <a:rPr lang="zh-CN" sz="1600" b="0" u="none" strike="noStrike">
                <a:solidFill>
                  <a:srgbClr val="EBEBEB"/>
                </a:solidFill>
                <a:effectLst/>
                <a:uFillTx/>
                <a:latin typeface="IBM Plex Sans"/>
              </a:rPr>
              <a:t>스크립트로 반복 실험 자동화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8000"/>
              </a:lnSpc>
              <a:spcAft>
                <a:spcPts val="700"/>
              </a:spcAft>
            </a:pPr>
            <a:r>
              <a:rPr lang="en-US" sz="1600" b="0" u="none" strike="noStrike">
                <a:solidFill>
                  <a:srgbClr val="EBEBEB"/>
                </a:solidFill>
                <a:effectLst/>
                <a:uFillTx/>
                <a:latin typeface="IBM Plex Sans"/>
              </a:rPr>
              <a:t>rosbag2</a:t>
            </a:r>
            <a:r>
              <a:rPr lang="zh-CN" sz="1600" b="0" u="none" strike="noStrike">
                <a:solidFill>
                  <a:srgbClr val="EBEBEB"/>
                </a:solidFill>
                <a:effectLst/>
                <a:uFillTx/>
                <a:latin typeface="IBM Plex Sans"/>
              </a:rPr>
              <a:t>에 </a:t>
            </a:r>
            <a:r>
              <a:rPr lang="en-US" sz="1600" b="0" u="none" strike="noStrike">
                <a:solidFill>
                  <a:srgbClr val="EBEBEB"/>
                </a:solidFill>
                <a:effectLst/>
                <a:uFillTx/>
                <a:latin typeface="IBM Plex Sans"/>
              </a:rPr>
              <a:t>/scan, /odom, /tf, dual-camera image/camera_info </a:t>
            </a:r>
            <a:r>
              <a:rPr lang="zh-CN" sz="1600" b="0" u="none" strike="noStrike">
                <a:solidFill>
                  <a:srgbClr val="EBEBEB"/>
                </a:solidFill>
                <a:effectLst/>
                <a:uFillTx/>
                <a:latin typeface="IBM Plex Sans"/>
              </a:rPr>
              <a:t>기록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Rectangle 8"/>
          <p:cNvSpPr/>
          <p:nvPr/>
        </p:nvSpPr>
        <p:spPr>
          <a:xfrm>
            <a:off x="6309360" y="1554480"/>
            <a:ext cx="5119920" cy="4571280"/>
          </a:xfrm>
          <a:prstGeom prst="rect">
            <a:avLst/>
          </a:prstGeom>
          <a:solidFill>
            <a:srgbClr val="262626"/>
          </a:solidFill>
          <a:ln w="12700">
            <a:solidFill>
              <a:srgbClr val="39393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3" name="Rectangle 9"/>
          <p:cNvSpPr/>
          <p:nvPr/>
        </p:nvSpPr>
        <p:spPr>
          <a:xfrm>
            <a:off x="6309360" y="1554480"/>
            <a:ext cx="72360" cy="4571280"/>
          </a:xfrm>
          <a:prstGeom prst="rect">
            <a:avLst/>
          </a:prstGeom>
          <a:solidFill>
            <a:srgbClr val="39393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360" tIns="45000" rIns="363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4" name="Rounded Rectangle 93"/>
          <p:cNvSpPr/>
          <p:nvPr/>
        </p:nvSpPr>
        <p:spPr>
          <a:xfrm>
            <a:off x="1005840" y="5299920"/>
            <a:ext cx="4239720" cy="619560"/>
          </a:xfrm>
          <a:prstGeom prst="roundRect">
            <a:avLst>
              <a:gd name="adj" fmla="val 16667"/>
            </a:avLst>
          </a:prstGeom>
          <a:solidFill>
            <a:srgbClr val="222222"/>
          </a:solidFill>
          <a:ln w="15240">
            <a:solidFill>
              <a:srgbClr val="2A9FF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0120" tIns="55080" rIns="15012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DCDCDC"/>
                </a:solidFill>
                <a:effectLst/>
                <a:uFillTx/>
                <a:latin typeface="IBM Plex Sans"/>
              </a:rPr>
              <a:t>HANDOFF  |  LiDAR / odom / camera bag -&gt; visual reconstruction support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5" name="Picture 94" descr="robot_front_wide.jpg"/>
          <p:cNvPicPr/>
          <p:nvPr/>
        </p:nvPicPr>
        <p:blipFill>
          <a:blip r:embed="rId1"/>
          <a:stretch/>
        </p:blipFill>
        <p:spPr>
          <a:xfrm>
            <a:off x="6539400" y="1854360"/>
            <a:ext cx="4659840" cy="1849680"/>
          </a:xfrm>
          <a:prstGeom prst="rect">
            <a:avLst/>
          </a:prstGeom>
          <a:noFill/>
          <a:ln w="12700">
            <a:solidFill>
              <a:srgbClr val="414141"/>
            </a:solidFill>
            <a:round/>
          </a:ln>
        </p:spPr>
      </p:pic>
      <p:pic>
        <p:nvPicPr>
          <p:cNvPr id="96" name="Picture 95" descr="robot_mount_wide.jpg"/>
          <p:cNvPicPr/>
          <p:nvPr/>
        </p:nvPicPr>
        <p:blipFill>
          <a:blip r:embed="rId2"/>
          <a:stretch/>
        </p:blipFill>
        <p:spPr>
          <a:xfrm>
            <a:off x="6539400" y="4114440"/>
            <a:ext cx="4659840" cy="1849680"/>
          </a:xfrm>
          <a:prstGeom prst="rect">
            <a:avLst/>
          </a:prstGeom>
          <a:noFill/>
          <a:ln w="12700">
            <a:solidFill>
              <a:srgbClr val="414141"/>
            </a:solidFill>
            <a:round/>
          </a:ln>
        </p:spPr>
      </p:pic>
      <p:sp>
        <p:nvSpPr>
          <p:cNvPr id="97" name="Rectangle 96"/>
          <p:cNvSpPr/>
          <p:nvPr/>
        </p:nvSpPr>
        <p:spPr>
          <a:xfrm>
            <a:off x="6539400" y="3464640"/>
            <a:ext cx="4659840" cy="23976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69840" tIns="15120" rIns="6984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900" b="1" u="none" strike="noStrike">
                <a:solidFill>
                  <a:srgbClr val="DADADA"/>
                </a:solidFill>
                <a:effectLst/>
                <a:uFillTx/>
                <a:latin typeface="IBM Plex Sans"/>
              </a:rPr>
              <a:t>REAL ROBOT  |  TurtleBot3 Burger + dual USB webcams + LDS-01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Rectangle 97"/>
          <p:cNvSpPr/>
          <p:nvPr/>
        </p:nvSpPr>
        <p:spPr>
          <a:xfrm>
            <a:off x="6539400" y="5724360"/>
            <a:ext cx="4659840" cy="23976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69840" tIns="15120" rIns="6984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850" b="1" u="none" strike="noStrike">
                <a:solidFill>
                  <a:srgbClr val="DADADA"/>
                </a:solidFill>
                <a:effectLst/>
                <a:uFillTx/>
                <a:latin typeface="IBM Plex Sans"/>
              </a:rPr>
              <a:t>HARDWARE MOUNT  |  C920 / C270 camera integration for scan recording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buNone/>
              <a:tabLst>
                <a:tab pos="0" algn="l"/>
              </a:tabLst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4645080" y="2174760"/>
            <a:ext cx="404100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spcBef>
                <a:spcPts val="479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/>
          </p:nvPr>
        </p:nvSpPr>
        <p:spPr>
          <a:xfrm>
            <a:off x="4645080" y="2174760"/>
            <a:ext cx="404100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spcBef>
                <a:spcPts val="479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2" name="PlaceHolder 4"/>
          <p:cNvSpPr>
            <a:spLocks noGrp="1"/>
          </p:cNvSpPr>
          <p:nvPr>
            <p:ph/>
          </p:nvPr>
        </p:nvSpPr>
        <p:spPr>
          <a:xfrm>
            <a:off x="4645080" y="2174760"/>
            <a:ext cx="404100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spcBef>
                <a:spcPts val="479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3" name="PlaceHolder 5"/>
          <p:cNvSpPr>
            <a:spLocks noGrp="1"/>
          </p:cNvSpPr>
          <p:nvPr>
            <p:ph/>
          </p:nvPr>
        </p:nvSpPr>
        <p:spPr>
          <a:xfrm>
            <a:off x="4645080" y="2174760"/>
            <a:ext cx="404100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spcBef>
                <a:spcPts val="479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4" name="Rectangle 6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5" name="TextBox 7"/>
          <p:cNvSpPr/>
          <p:nvPr/>
        </p:nvSpPr>
        <p:spPr>
          <a:xfrm>
            <a:off x="731520" y="365760"/>
            <a:ext cx="2599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8D8D8D"/>
                </a:solidFill>
                <a:effectLst/>
                <a:uFillTx/>
                <a:latin typeface="IBM Plex Sans"/>
              </a:rPr>
              <a:t>04 // ROBOT TEAM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Box 8"/>
          <p:cNvSpPr/>
          <p:nvPr/>
        </p:nvSpPr>
        <p:spPr>
          <a:xfrm>
            <a:off x="731520" y="594360"/>
            <a:ext cx="419976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zh-CN" sz="3000" b="1" u="none" strike="noStrike">
                <a:solidFill>
                  <a:srgbClr val="F5F5F5"/>
                </a:solidFill>
                <a:effectLst/>
                <a:uFillTx/>
                <a:latin typeface="IBM Plex Sans"/>
              </a:rPr>
              <a:t>시뮬레이션 구현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Rectangle 9"/>
          <p:cNvSpPr/>
          <p:nvPr/>
        </p:nvSpPr>
        <p:spPr>
          <a:xfrm>
            <a:off x="731520" y="1188720"/>
            <a:ext cx="10728000" cy="17640"/>
          </a:xfrm>
          <a:prstGeom prst="rect">
            <a:avLst/>
          </a:prstGeom>
          <a:solidFill>
            <a:srgbClr val="37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7000" rIns="90000" bIns="-27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8" name="Rectangle 10"/>
          <p:cNvSpPr/>
          <p:nvPr/>
        </p:nvSpPr>
        <p:spPr>
          <a:xfrm>
            <a:off x="731520" y="1554480"/>
            <a:ext cx="5119920" cy="4571280"/>
          </a:xfrm>
          <a:prstGeom prst="rect">
            <a:avLst/>
          </a:prstGeom>
          <a:solidFill>
            <a:srgbClr val="242424"/>
          </a:solidFill>
          <a:ln w="12700">
            <a:solidFill>
              <a:srgbClr val="414141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9" name="Rectangle 11"/>
          <p:cNvSpPr/>
          <p:nvPr/>
        </p:nvSpPr>
        <p:spPr>
          <a:xfrm>
            <a:off x="731520" y="1554480"/>
            <a:ext cx="72360" cy="4571280"/>
          </a:xfrm>
          <a:prstGeom prst="rect">
            <a:avLst/>
          </a:prstGeom>
          <a:solidFill>
            <a:srgbClr val="2A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0" name="Rectangle 12"/>
          <p:cNvSpPr/>
          <p:nvPr/>
        </p:nvSpPr>
        <p:spPr>
          <a:xfrm>
            <a:off x="6309360" y="1554480"/>
            <a:ext cx="5119920" cy="4571280"/>
          </a:xfrm>
          <a:prstGeom prst="rect">
            <a:avLst/>
          </a:prstGeom>
          <a:solidFill>
            <a:srgbClr val="242424"/>
          </a:solidFill>
          <a:ln w="12700">
            <a:solidFill>
              <a:srgbClr val="414141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1" name="Rectangle 13"/>
          <p:cNvSpPr/>
          <p:nvPr/>
        </p:nvSpPr>
        <p:spPr>
          <a:xfrm>
            <a:off x="6309360" y="1554480"/>
            <a:ext cx="72360" cy="457128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2" name="TextBox 14"/>
          <p:cNvSpPr/>
          <p:nvPr/>
        </p:nvSpPr>
        <p:spPr>
          <a:xfrm>
            <a:off x="1005840" y="1689840"/>
            <a:ext cx="4439520" cy="331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spcAft>
                <a:spcPts val="1001"/>
              </a:spcAft>
            </a:pPr>
            <a:r>
              <a:rPr lang="en-US" sz="1500" b="1" u="none" strike="noStrike">
                <a:solidFill>
                  <a:srgbClr val="2A9FFF"/>
                </a:solidFill>
                <a:effectLst/>
                <a:uFillTx/>
                <a:latin typeface="IBM Plex Sans"/>
              </a:rPr>
              <a:t>SIMULATION DUAL-CAMERA STACK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  <a:spcAft>
                <a:spcPts val="601"/>
              </a:spcAft>
            </a:pPr>
            <a:r>
              <a:rPr lang="en-US" sz="1500" b="0" u="none" strike="noStrike">
                <a:solidFill>
                  <a:srgbClr val="EBEBEB"/>
                </a:solidFill>
                <a:effectLst/>
                <a:uFillTx/>
                <a:latin typeface="IBM Plex Sans"/>
              </a:rPr>
              <a:t>Gazebo Sim</a:t>
            </a:r>
            <a:r>
              <a:rPr lang="zh-CN" sz="1500" b="0" u="none" strike="noStrike">
                <a:solidFill>
                  <a:srgbClr val="EBEBEB"/>
                </a:solidFill>
                <a:effectLst/>
                <a:uFillTx/>
                <a:latin typeface="IBM Plex Sans"/>
              </a:rPr>
              <a:t>에 </a:t>
            </a:r>
            <a:r>
              <a:rPr lang="en-US" sz="1500" b="0" u="none" strike="noStrike">
                <a:solidFill>
                  <a:srgbClr val="EBEBEB"/>
                </a:solidFill>
                <a:effectLst/>
                <a:uFillTx/>
                <a:latin typeface="IBM Plex Sans"/>
              </a:rPr>
              <a:t>TurtleBot3 Burger + C920/C270 </a:t>
            </a:r>
            <a:r>
              <a:rPr lang="zh-CN" sz="1500" b="0" u="none" strike="noStrike">
                <a:solidFill>
                  <a:srgbClr val="EBEBEB"/>
                </a:solidFill>
                <a:effectLst/>
                <a:uFillTx/>
                <a:latin typeface="IBM Plex Sans"/>
              </a:rPr>
              <a:t>카메라 모델 구성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  <a:spcAft>
                <a:spcPts val="601"/>
              </a:spcAft>
            </a:pPr>
            <a:r>
              <a:rPr lang="en-US" sz="1500" b="0" u="none" strike="noStrike">
                <a:solidFill>
                  <a:srgbClr val="EBEBEB"/>
                </a:solidFill>
                <a:effectLst/>
                <a:uFillTx/>
                <a:latin typeface="IBM Plex Sans"/>
              </a:rPr>
              <a:t>URDF/SDF</a:t>
            </a:r>
            <a:r>
              <a:rPr lang="zh-CN" sz="1500" b="0" u="none" strike="noStrike">
                <a:solidFill>
                  <a:srgbClr val="EBEBEB"/>
                </a:solidFill>
                <a:effectLst/>
                <a:uFillTx/>
                <a:latin typeface="IBM Plex Sans"/>
              </a:rPr>
              <a:t>에 </a:t>
            </a:r>
            <a:r>
              <a:rPr lang="en-US" sz="1500" b="0" u="none" strike="noStrike">
                <a:solidFill>
                  <a:srgbClr val="EBEBEB"/>
                </a:solidFill>
                <a:effectLst/>
                <a:uFillTx/>
                <a:latin typeface="IBM Plex Sans"/>
              </a:rPr>
              <a:t>camera link</a:t>
            </a:r>
            <a:r>
              <a:rPr lang="zh-CN" sz="1500" b="0" u="none" strike="noStrike">
                <a:solidFill>
                  <a:srgbClr val="EBEBEB"/>
                </a:solidFill>
                <a:effectLst/>
                <a:uFillTx/>
                <a:latin typeface="IBM Plex Sans"/>
              </a:rPr>
              <a:t>와 </a:t>
            </a:r>
            <a:r>
              <a:rPr lang="en-US" sz="1500" b="0" u="none" strike="noStrike">
                <a:solidFill>
                  <a:srgbClr val="EBEBEB"/>
                </a:solidFill>
                <a:effectLst/>
                <a:uFillTx/>
                <a:latin typeface="IBM Plex Sans"/>
              </a:rPr>
              <a:t>optical frame</a:t>
            </a:r>
            <a:r>
              <a:rPr lang="zh-CN" sz="1500" b="0" u="none" strike="noStrike">
                <a:solidFill>
                  <a:srgbClr val="EBEBEB"/>
                </a:solidFill>
                <a:effectLst/>
                <a:uFillTx/>
                <a:latin typeface="IBM Plex Sans"/>
              </a:rPr>
              <a:t>을 추가해 </a:t>
            </a:r>
            <a:r>
              <a:rPr lang="en-US" sz="1500" b="0" u="none" strike="noStrike">
                <a:solidFill>
                  <a:srgbClr val="EBEBEB"/>
                </a:solidFill>
                <a:effectLst/>
                <a:uFillTx/>
                <a:latin typeface="IBM Plex Sans"/>
              </a:rPr>
              <a:t>TF </a:t>
            </a:r>
            <a:r>
              <a:rPr lang="zh-CN" sz="1500" b="0" u="none" strike="noStrike">
                <a:solidFill>
                  <a:srgbClr val="EBEBEB"/>
                </a:solidFill>
                <a:effectLst/>
                <a:uFillTx/>
                <a:latin typeface="IBM Plex Sans"/>
              </a:rPr>
              <a:t>구조 정렬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  <a:spcAft>
                <a:spcPts val="601"/>
              </a:spcAft>
            </a:pPr>
            <a:r>
              <a:rPr lang="en-US" sz="1500" b="0" u="none" strike="noStrike">
                <a:solidFill>
                  <a:srgbClr val="EBEBEB"/>
                </a:solidFill>
                <a:effectLst/>
                <a:uFillTx/>
                <a:latin typeface="IBM Plex Sans"/>
              </a:rPr>
              <a:t>ros_gz_bridge / ros_gz_image</a:t>
            </a:r>
            <a:r>
              <a:rPr lang="zh-CN" sz="1500" b="0" u="none" strike="noStrike">
                <a:solidFill>
                  <a:srgbClr val="EBEBEB"/>
                </a:solidFill>
                <a:effectLst/>
                <a:uFillTx/>
                <a:latin typeface="IBM Plex Sans"/>
              </a:rPr>
              <a:t>로 두 카메라 </a:t>
            </a:r>
            <a:r>
              <a:rPr lang="en-US" sz="1500" b="0" u="none" strike="noStrike">
                <a:solidFill>
                  <a:srgbClr val="EBEBEB"/>
                </a:solidFill>
                <a:effectLst/>
                <a:uFillTx/>
                <a:latin typeface="IBM Plex Sans"/>
              </a:rPr>
              <a:t>image_raw</a:t>
            </a:r>
            <a:r>
              <a:rPr lang="zh-CN" sz="1500" b="0" u="none" strike="noStrike">
                <a:solidFill>
                  <a:srgbClr val="EBEBEB"/>
                </a:solidFill>
                <a:effectLst/>
                <a:uFillTx/>
                <a:latin typeface="IBM Plex Sans"/>
              </a:rPr>
              <a:t>와 </a:t>
            </a:r>
            <a:r>
              <a:rPr lang="en-US" sz="1500" b="0" u="none" strike="noStrike">
                <a:solidFill>
                  <a:srgbClr val="EBEBEB"/>
                </a:solidFill>
                <a:effectLst/>
                <a:uFillTx/>
                <a:latin typeface="IBM Plex Sans"/>
              </a:rPr>
              <a:t>camera_info </a:t>
            </a:r>
            <a:r>
              <a:rPr lang="zh-CN" sz="1500" b="0" u="none" strike="noStrike">
                <a:solidFill>
                  <a:srgbClr val="EBEBEB"/>
                </a:solidFill>
                <a:effectLst/>
                <a:uFillTx/>
                <a:latin typeface="IBM Plex Sans"/>
              </a:rPr>
              <a:t>노출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  <a:spcAft>
                <a:spcPts val="601"/>
              </a:spcAft>
            </a:pPr>
            <a:r>
              <a:rPr lang="en-US" sz="1500" b="0" u="none" strike="noStrike">
                <a:solidFill>
                  <a:srgbClr val="EBEBEB"/>
                </a:solidFill>
                <a:effectLst/>
                <a:uFillTx/>
                <a:latin typeface="IBM Plex Sans"/>
              </a:rPr>
              <a:t>RViz2</a:t>
            </a:r>
            <a:r>
              <a:rPr lang="zh-CN" sz="1500" b="0" u="none" strike="noStrike">
                <a:solidFill>
                  <a:srgbClr val="EBEBEB"/>
                </a:solidFill>
                <a:effectLst/>
                <a:uFillTx/>
                <a:latin typeface="IBM Plex Sans"/>
              </a:rPr>
              <a:t>에서 </a:t>
            </a:r>
            <a:r>
              <a:rPr lang="en-US" sz="1500" b="0" u="none" strike="noStrike">
                <a:solidFill>
                  <a:srgbClr val="EBEBEB"/>
                </a:solidFill>
                <a:effectLst/>
                <a:uFillTx/>
                <a:latin typeface="IBM Plex Sans"/>
              </a:rPr>
              <a:t>robot model, LaserScan, TF, dual camera image panel </a:t>
            </a:r>
            <a:r>
              <a:rPr lang="zh-CN" sz="1500" b="0" u="none" strike="noStrike">
                <a:solidFill>
                  <a:srgbClr val="EBEBEB"/>
                </a:solidFill>
                <a:effectLst/>
                <a:uFillTx/>
                <a:latin typeface="IBM Plex Sans"/>
              </a:rPr>
              <a:t>동시 검증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  <a:spcAft>
                <a:spcPts val="601"/>
              </a:spcAft>
            </a:pPr>
            <a:r>
              <a:rPr lang="zh-CN" sz="1500" b="0" u="none" strike="noStrike">
                <a:solidFill>
                  <a:srgbClr val="EBEBEB"/>
                </a:solidFill>
                <a:effectLst/>
                <a:uFillTx/>
                <a:latin typeface="IBM Plex Sans"/>
              </a:rPr>
              <a:t>실물 로봇과 같은 토픽</a:t>
            </a:r>
            <a:r>
              <a:rPr lang="en-US" sz="1500" b="0" u="none" strike="noStrike">
                <a:solidFill>
                  <a:srgbClr val="EBEBEB"/>
                </a:solidFill>
                <a:effectLst/>
                <a:uFillTx/>
                <a:latin typeface="IBM Plex Sans"/>
              </a:rPr>
              <a:t>/</a:t>
            </a:r>
            <a:r>
              <a:rPr lang="zh-CN" sz="1500" b="0" u="none" strike="noStrike">
                <a:solidFill>
                  <a:srgbClr val="EBEBEB"/>
                </a:solidFill>
                <a:effectLst/>
                <a:uFillTx/>
                <a:latin typeface="IBM Plex Sans"/>
              </a:rPr>
              <a:t>프레임 이름으로 </a:t>
            </a:r>
            <a:r>
              <a:rPr lang="en-US" sz="1500" b="0" u="none" strike="noStrike">
                <a:solidFill>
                  <a:srgbClr val="EBEBEB"/>
                </a:solidFill>
                <a:effectLst/>
                <a:uFillTx/>
                <a:latin typeface="IBM Plex Sans"/>
              </a:rPr>
              <a:t>bag </a:t>
            </a:r>
            <a:r>
              <a:rPr lang="zh-CN" sz="1500" b="0" u="none" strike="noStrike">
                <a:solidFill>
                  <a:srgbClr val="EBEBEB"/>
                </a:solidFill>
                <a:effectLst/>
                <a:uFillTx/>
                <a:latin typeface="IBM Plex Sans"/>
              </a:rPr>
              <a:t>및 비전 </a:t>
            </a:r>
            <a:r>
              <a:rPr lang="en-US" sz="1500" b="0" u="none" strike="noStrike">
                <a:solidFill>
                  <a:srgbClr val="EBEBEB"/>
                </a:solidFill>
                <a:effectLst/>
                <a:uFillTx/>
                <a:latin typeface="IBM Plex Sans"/>
              </a:rPr>
              <a:t>handoff </a:t>
            </a:r>
            <a:r>
              <a:rPr lang="zh-CN" sz="1500" b="0" u="none" strike="noStrike">
                <a:solidFill>
                  <a:srgbClr val="EBEBEB"/>
                </a:solidFill>
                <a:effectLst/>
                <a:uFillTx/>
                <a:latin typeface="IBM Plex Sans"/>
              </a:rPr>
              <a:t>계약 유지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Rounded Rectangle 15"/>
          <p:cNvSpPr/>
          <p:nvPr/>
        </p:nvSpPr>
        <p:spPr>
          <a:xfrm>
            <a:off x="1005840" y="5299920"/>
            <a:ext cx="4239720" cy="619560"/>
          </a:xfrm>
          <a:prstGeom prst="roundRect">
            <a:avLst>
              <a:gd name="adj" fmla="val 16667"/>
            </a:avLst>
          </a:prstGeom>
          <a:solidFill>
            <a:srgbClr val="222222"/>
          </a:solidFill>
          <a:ln w="15240">
            <a:solidFill>
              <a:srgbClr val="2A9FF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0120" tIns="55080" rIns="15012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DCDCDC"/>
                </a:solidFill>
                <a:effectLst/>
                <a:uFillTx/>
                <a:latin typeface="IBM Plex Sans"/>
              </a:rPr>
              <a:t>SIMULATION  |  dual camera topics verified before real-robot recording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4" name="Picture 16" descr="sim_gazebo_wide.jpg"/>
          <p:cNvPicPr/>
          <p:nvPr/>
        </p:nvPicPr>
        <p:blipFill>
          <a:blip r:embed="rId1"/>
          <a:stretch/>
        </p:blipFill>
        <p:spPr>
          <a:xfrm>
            <a:off x="6539400" y="1854360"/>
            <a:ext cx="4659840" cy="1849680"/>
          </a:xfrm>
          <a:prstGeom prst="rect">
            <a:avLst/>
          </a:prstGeom>
          <a:noFill/>
          <a:ln w="12700">
            <a:solidFill>
              <a:srgbClr val="414141"/>
            </a:solidFill>
            <a:round/>
          </a:ln>
        </p:spPr>
      </p:pic>
      <p:pic>
        <p:nvPicPr>
          <p:cNvPr id="115" name="Picture 17" descr="sim_rviz_wide.jpg"/>
          <p:cNvPicPr/>
          <p:nvPr/>
        </p:nvPicPr>
        <p:blipFill>
          <a:blip r:embed="rId2"/>
          <a:stretch/>
        </p:blipFill>
        <p:spPr>
          <a:xfrm>
            <a:off x="6539400" y="4114440"/>
            <a:ext cx="4659840" cy="1849680"/>
          </a:xfrm>
          <a:prstGeom prst="rect">
            <a:avLst/>
          </a:prstGeom>
          <a:noFill/>
          <a:ln w="12700">
            <a:solidFill>
              <a:srgbClr val="414141"/>
            </a:solidFill>
            <a:round/>
          </a:ln>
        </p:spPr>
      </p:pic>
      <p:sp>
        <p:nvSpPr>
          <p:cNvPr id="116" name="Rectangle 18"/>
          <p:cNvSpPr/>
          <p:nvPr/>
        </p:nvSpPr>
        <p:spPr>
          <a:xfrm>
            <a:off x="6539400" y="3464640"/>
            <a:ext cx="4659840" cy="23976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69840" tIns="15120" rIns="6984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850" b="1" u="none" strike="noStrike">
                <a:solidFill>
                  <a:srgbClr val="DADADA"/>
                </a:solidFill>
                <a:effectLst/>
                <a:uFillTx/>
                <a:latin typeface="IBM Plex Sans"/>
              </a:rPr>
              <a:t>GAZEBO SIM  |  TurtleBot3 Burger model with C920 / C270 camera sensors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Rectangle 19"/>
          <p:cNvSpPr/>
          <p:nvPr/>
        </p:nvSpPr>
        <p:spPr>
          <a:xfrm>
            <a:off x="6539400" y="5724360"/>
            <a:ext cx="4659840" cy="23976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69840" tIns="15120" rIns="6984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850" b="1" u="none" strike="noStrike">
                <a:solidFill>
                  <a:srgbClr val="DADADA"/>
                </a:solidFill>
                <a:effectLst/>
                <a:uFillTx/>
                <a:latin typeface="IBM Plex Sans"/>
              </a:rPr>
              <a:t>RVIZ2 CHECK  |  TF, LaserScan, robot model, and dual camera streams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Rectangle 12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1616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9" name="TextBox 8"/>
          <p:cNvSpPr/>
          <p:nvPr/>
        </p:nvSpPr>
        <p:spPr>
          <a:xfrm>
            <a:off x="731520" y="365760"/>
            <a:ext cx="1072800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8D8D8D"/>
                </a:solidFill>
                <a:effectLst/>
                <a:uFillTx/>
                <a:latin typeface="IBM Plex Sans"/>
              </a:rPr>
              <a:t>03 // DIAGNOSIS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Box 9"/>
          <p:cNvSpPr/>
          <p:nvPr/>
        </p:nvSpPr>
        <p:spPr>
          <a:xfrm>
            <a:off x="731520" y="594360"/>
            <a:ext cx="1072800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24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비전팀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Rectangle 13"/>
          <p:cNvSpPr/>
          <p:nvPr/>
        </p:nvSpPr>
        <p:spPr>
          <a:xfrm>
            <a:off x="731520" y="1188720"/>
            <a:ext cx="10728000" cy="17640"/>
          </a:xfrm>
          <a:prstGeom prst="rect">
            <a:avLst/>
          </a:prstGeom>
          <a:solidFill>
            <a:srgbClr val="39393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2" name="Rectangle 14"/>
          <p:cNvSpPr/>
          <p:nvPr/>
        </p:nvSpPr>
        <p:spPr>
          <a:xfrm>
            <a:off x="731520" y="1554480"/>
            <a:ext cx="5119920" cy="4571280"/>
          </a:xfrm>
          <a:prstGeom prst="rect">
            <a:avLst/>
          </a:prstGeom>
          <a:solidFill>
            <a:srgbClr val="262626"/>
          </a:solidFill>
          <a:ln w="12700">
            <a:solidFill>
              <a:srgbClr val="39393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3" name="Rectangle 15"/>
          <p:cNvSpPr/>
          <p:nvPr/>
        </p:nvSpPr>
        <p:spPr>
          <a:xfrm>
            <a:off x="731520" y="1554480"/>
            <a:ext cx="72360" cy="4571280"/>
          </a:xfrm>
          <a:prstGeom prst="rect">
            <a:avLst/>
          </a:prstGeom>
          <a:solidFill>
            <a:srgbClr val="DA1E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360" tIns="45000" rIns="363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4" name="Rectangle 16"/>
          <p:cNvSpPr/>
          <p:nvPr/>
        </p:nvSpPr>
        <p:spPr>
          <a:xfrm>
            <a:off x="6309360" y="1554480"/>
            <a:ext cx="5119920" cy="4571280"/>
          </a:xfrm>
          <a:prstGeom prst="rect">
            <a:avLst/>
          </a:prstGeom>
          <a:solidFill>
            <a:srgbClr val="262626"/>
          </a:solidFill>
          <a:ln w="12700">
            <a:solidFill>
              <a:srgbClr val="39393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5" name="Rectangle 17"/>
          <p:cNvSpPr/>
          <p:nvPr/>
        </p:nvSpPr>
        <p:spPr>
          <a:xfrm>
            <a:off x="6309360" y="1554480"/>
            <a:ext cx="72360" cy="4571280"/>
          </a:xfrm>
          <a:prstGeom prst="rect">
            <a:avLst/>
          </a:prstGeom>
          <a:solidFill>
            <a:srgbClr val="39393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360" tIns="45000" rIns="363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26" name="Picture 2" descr="기존_ICP_merge_결과.jpeg"/>
          <p:cNvPicPr/>
          <p:nvPr/>
        </p:nvPicPr>
        <p:blipFill>
          <a:blip r:embed="rId2"/>
          <a:stretch/>
        </p:blipFill>
        <p:spPr>
          <a:xfrm>
            <a:off x="6492240" y="1737360"/>
            <a:ext cx="4754160" cy="3474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7" name="TextBox 7"/>
          <p:cNvSpPr/>
          <p:nvPr/>
        </p:nvSpPr>
        <p:spPr>
          <a:xfrm>
            <a:off x="1005840" y="1689840"/>
            <a:ext cx="4439520" cy="343461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lvl="0" defTabSz="457200">
              <a:lnSpc>
                <a:spcPct val="100000"/>
              </a:lnSpc>
              <a:spcAft>
                <a:spcPts val="1001"/>
              </a:spcAft>
              <a:defRPr/>
            </a:pPr>
            <a:r>
              <a:rPr lang="en-US" altLang="ko-KR" sz="1500" b="1" u="none" strike="noStrike">
                <a:solidFill>
                  <a:srgbClr val="2a9fff"/>
                </a:solidFill>
                <a:effectLst/>
                <a:uFillTx/>
                <a:latin typeface="IBM Plex Sans"/>
              </a:rPr>
              <a:t>VISION </a:t>
            </a:r>
            <a:r>
              <a:rPr lang="en-US" sz="1500" b="1" u="none" strike="noStrike">
                <a:solidFill>
                  <a:srgbClr val="2a9fff"/>
                </a:solidFill>
                <a:effectLst/>
                <a:uFillTx/>
                <a:latin typeface="IBM Plex Sans"/>
              </a:rPr>
              <a:t>PIPELINE</a:t>
            </a:r>
            <a:endParaRPr lang="en-US" sz="1500" b="1" u="none" strike="noStrike">
              <a:solidFill>
                <a:srgbClr val="2a9fff"/>
              </a:solidFill>
              <a:effectLst/>
              <a:uFillTx/>
              <a:latin typeface="IBM Plex Sans"/>
            </a:endParaRPr>
          </a:p>
          <a:p>
            <a:pPr lvl="0" defTabSz="457200">
              <a:lnSpc>
                <a:spcPct val="108000"/>
              </a:lnSpc>
              <a:spcAft>
                <a:spcPts val="700"/>
              </a:spcAft>
              <a:defRPr/>
            </a:pPr>
            <a:r>
              <a:rPr lang="en-US" altLang="ko-KR" sz="16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ros2bag</a:t>
            </a:r>
            <a:r>
              <a:rPr lang="ko-KR" altLang="en-US" sz="16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 데이터 로딩</a:t>
            </a:r>
            <a:endParaRPr lang="ko-KR" alt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0" defTabSz="457200">
              <a:lnSpc>
                <a:spcPct val="108000"/>
              </a:lnSpc>
              <a:spcAft>
                <a:spcPts val="700"/>
              </a:spcAft>
              <a:defRPr/>
            </a:pPr>
            <a:r>
              <a:rPr lang="ko-KR" altLang="en-US" sz="16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좌우 스테레오 이미지 시간 동기화 </a:t>
            </a:r>
            <a:endParaRPr lang="ko-KR" alt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0" defTabSz="457200">
              <a:lnSpc>
                <a:spcPct val="108000"/>
              </a:lnSpc>
              <a:spcAft>
                <a:spcPts val="700"/>
              </a:spcAft>
              <a:defRPr/>
            </a:pPr>
            <a:r>
              <a:rPr lang="ko-KR" altLang="en-US" sz="16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카메라 보정 및 </a:t>
            </a:r>
            <a:r>
              <a:rPr lang="en-US" altLang="ko-KR" sz="16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stereo rectification </a:t>
            </a:r>
            <a:endParaRPr lang="ko-KR" alt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0" defTabSz="457200">
              <a:lnSpc>
                <a:spcPct val="108000"/>
              </a:lnSpc>
              <a:spcAft>
                <a:spcPts val="700"/>
              </a:spcAft>
              <a:defRPr/>
            </a:pPr>
            <a:r>
              <a:rPr lang="en-US" altLang="ko-KR" sz="16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disparity</a:t>
            </a:r>
            <a:r>
              <a:rPr lang="ko-KR" altLang="en-US" sz="16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 추정 </a:t>
            </a:r>
            <a:r>
              <a:rPr lang="en-US" altLang="ko-KR" sz="16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(OpenCV SGBM/DEFOM-Stereo)</a:t>
            </a:r>
            <a:endParaRPr lang="en-US" altLang="ko-K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0" defTabSz="457200">
              <a:lnSpc>
                <a:spcPct val="108000"/>
              </a:lnSpc>
              <a:spcAft>
                <a:spcPts val="700"/>
              </a:spcAft>
              <a:defRPr/>
            </a:pPr>
            <a:r>
              <a:rPr lang="en-US" altLang="ko-KR" sz="16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LiDAR anchor</a:t>
            </a:r>
            <a:r>
              <a:rPr lang="ko-KR" altLang="en-US" sz="16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 기반 </a:t>
            </a:r>
            <a:r>
              <a:rPr lang="en-US" altLang="ko-KR" sz="16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depth </a:t>
            </a:r>
            <a:r>
              <a:rPr lang="ko-KR" altLang="en-US" sz="16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검증</a:t>
            </a:r>
            <a:r>
              <a:rPr lang="en-US" altLang="ko-KR" sz="16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/</a:t>
            </a:r>
            <a:r>
              <a:rPr lang="ko-KR" altLang="en-US" sz="16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보정 </a:t>
            </a:r>
            <a:endParaRPr lang="ko-KR" alt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0" defTabSz="457200">
              <a:lnSpc>
                <a:spcPct val="108000"/>
              </a:lnSpc>
              <a:spcAft>
                <a:spcPts val="700"/>
              </a:spcAft>
              <a:defRPr/>
            </a:pPr>
            <a:r>
              <a:rPr lang="en-US" altLang="ko-KR" sz="16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RGB-D</a:t>
            </a:r>
            <a:r>
              <a:rPr lang="ko-KR" altLang="en-US" sz="16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 포인트클라우드 생성 </a:t>
            </a:r>
            <a:endParaRPr lang="ko-KR" alt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0" defTabSz="457200">
              <a:lnSpc>
                <a:spcPct val="108000"/>
              </a:lnSpc>
              <a:spcAft>
                <a:spcPts val="700"/>
              </a:spcAft>
              <a:defRPr/>
            </a:pPr>
            <a:r>
              <a:rPr lang="en-US" altLang="ko-KR" sz="16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TF</a:t>
            </a:r>
            <a:r>
              <a:rPr lang="ko-KR" altLang="en-US" sz="16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 기반 전역 좌표계 누적 </a:t>
            </a:r>
            <a:endParaRPr lang="ko-KR" alt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0" defTabSz="457200">
              <a:lnSpc>
                <a:spcPct val="108000"/>
              </a:lnSpc>
              <a:spcAft>
                <a:spcPts val="700"/>
              </a:spcAft>
              <a:defRPr/>
            </a:pPr>
            <a:r>
              <a:rPr lang="en-US" altLang="ko-KR" sz="16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voxel downsampling </a:t>
            </a:r>
            <a:r>
              <a:rPr lang="ko-KR" altLang="en-US" sz="16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및 </a:t>
            </a:r>
            <a:r>
              <a:rPr lang="en-US" altLang="ko-KR" sz="16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outlier filtering </a:t>
            </a:r>
            <a:endParaRPr lang="en-US" altLang="ko-K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0" defTabSz="457200">
              <a:lnSpc>
                <a:spcPct val="108000"/>
              </a:lnSpc>
              <a:spcAft>
                <a:spcPts val="700"/>
              </a:spcAft>
              <a:defRPr/>
            </a:pPr>
            <a:r>
              <a:rPr lang="en-US" altLang="ko-KR" sz="16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PLY/PCD/NPY</a:t>
            </a:r>
            <a:r>
              <a:rPr lang="ko-KR" altLang="en-US" sz="16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 맵 출력</a:t>
            </a:r>
            <a:endParaRPr lang="ko-KR" alt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spd="med" mc:Ignorable="p14" p14:dur="2000"/>
    </mc:Choice>
    <mc:Fallback>
      <p:transition/>
    </mc:Fallback>
  </mc:AlternateContent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1616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8" name="TextBox 2"/>
          <p:cNvSpPr/>
          <p:nvPr/>
        </p:nvSpPr>
        <p:spPr>
          <a:xfrm>
            <a:off x="731520" y="365760"/>
            <a:ext cx="1072800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8D8D8D"/>
                </a:solidFill>
                <a:effectLst/>
                <a:uFillTx/>
                <a:latin typeface="IBM Plex Sans"/>
              </a:rPr>
              <a:t>04 // DIAGNOSIS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Box 3"/>
          <p:cNvSpPr/>
          <p:nvPr/>
        </p:nvSpPr>
        <p:spPr>
          <a:xfrm>
            <a:off x="731520" y="594360"/>
            <a:ext cx="1072800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Rectangle 4"/>
          <p:cNvSpPr/>
          <p:nvPr/>
        </p:nvSpPr>
        <p:spPr>
          <a:xfrm>
            <a:off x="731520" y="1188720"/>
            <a:ext cx="10728000" cy="17640"/>
          </a:xfrm>
          <a:prstGeom prst="rect">
            <a:avLst/>
          </a:prstGeom>
          <a:solidFill>
            <a:srgbClr val="39393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1" name="Rectangle 5"/>
          <p:cNvSpPr/>
          <p:nvPr/>
        </p:nvSpPr>
        <p:spPr>
          <a:xfrm>
            <a:off x="731520" y="1554480"/>
            <a:ext cx="5119920" cy="4571280"/>
          </a:xfrm>
          <a:prstGeom prst="rect">
            <a:avLst/>
          </a:prstGeom>
          <a:solidFill>
            <a:srgbClr val="262626"/>
          </a:solidFill>
          <a:ln w="12700">
            <a:solidFill>
              <a:srgbClr val="39393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2" name="Rectangle 6"/>
          <p:cNvSpPr/>
          <p:nvPr/>
        </p:nvSpPr>
        <p:spPr>
          <a:xfrm>
            <a:off x="731520" y="1554480"/>
            <a:ext cx="72360" cy="4571280"/>
          </a:xfrm>
          <a:prstGeom prst="rect">
            <a:avLst/>
          </a:prstGeom>
          <a:solidFill>
            <a:srgbClr val="DA1E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360" tIns="45000" rIns="363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3" name="TextBox 7"/>
          <p:cNvSpPr/>
          <p:nvPr/>
        </p:nvSpPr>
        <p:spPr>
          <a:xfrm>
            <a:off x="1005840" y="1737360"/>
            <a:ext cx="4571280" cy="375856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pPr lvl="0" defTabSz="457200">
              <a:lnSpc>
                <a:spcPct val="100000"/>
              </a:lnSpc>
              <a:spcAft>
                <a:spcPts val="2001"/>
              </a:spcAft>
              <a:defRPr/>
            </a:pPr>
            <a:r>
              <a:rPr lang="en-US" sz="1200" b="1" u="none" strike="noStrike">
                <a:solidFill>
                  <a:srgbClr val="da1e28"/>
                </a:solidFill>
                <a:effectLst/>
                <a:uFillTx/>
                <a:latin typeface="Calibri"/>
              </a:rPr>
              <a:t>POINTCLOUD FAILURES</a:t>
            </a:r>
            <a:endParaRPr lang="en-US" sz="1200" b="1" u="none" strike="noStrike">
              <a:solidFill>
                <a:srgbClr val="da1e28"/>
              </a:solidFill>
              <a:effectLst/>
              <a:uFillTx/>
              <a:latin typeface="Calibri"/>
            </a:endParaRPr>
          </a:p>
          <a:p>
            <a:pPr lvl="0" defTabSz="457200">
              <a:lnSpc>
                <a:spcPct val="100000"/>
              </a:lnSpc>
              <a:defRPr/>
            </a:pPr>
            <a:r>
              <a:rPr lang="zh-CN" sz="14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기존 </a:t>
            </a: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code</a:t>
            </a:r>
            <a:r>
              <a:rPr lang="zh-CN" sz="14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기반 </a:t>
            </a: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Pointcloud </a:t>
            </a:r>
            <a:r>
              <a:rPr lang="zh-CN" sz="14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매핑 결과 분석</a:t>
            </a:r>
            <a:endParaRPr lang="zh-CN" sz="1400" b="1" u="none" strike="noStrike">
              <a:solidFill>
                <a:srgbClr val="ffffff"/>
              </a:solidFill>
              <a:effectLst/>
              <a:uFillTx/>
              <a:latin typeface="IBM Plex Sans"/>
            </a:endParaRPr>
          </a:p>
          <a:p>
            <a:pPr lvl="0" defTabSz="457200">
              <a:lnSpc>
                <a:spcPct val="100000"/>
              </a:lnSpc>
              <a:spcAft>
                <a:spcPts val="799"/>
              </a:spcAft>
              <a:defRPr/>
            </a:pPr>
            <a:r>
              <a:rPr lang="zh-CN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ㄴ 원형 안개 현상</a:t>
            </a: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: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벽과 복도 등 직선형으로 뚜렷해야 할 스캔 결과가 마치 둥근 안개처럼 뭉개짐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.</a:t>
            </a:r>
            <a:endParaRPr lang="en-US" sz="1300" b="0" u="none" strike="noStrike">
              <a:solidFill>
                <a:srgbClr val="c6c6c6"/>
              </a:solidFill>
              <a:effectLst/>
              <a:uFillTx/>
              <a:latin typeface="IBM Plex Sans"/>
            </a:endParaRPr>
          </a:p>
          <a:p>
            <a:pPr lvl="0" defTabSz="457200">
              <a:lnSpc>
                <a:spcPct val="100000"/>
              </a:lnSpc>
              <a:spcAft>
                <a:spcPts val="799"/>
              </a:spcAft>
              <a:defRPr/>
            </a:pP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0" defTabSz="457200">
              <a:lnSpc>
                <a:spcPct val="100000"/>
              </a:lnSpc>
              <a:defRPr/>
            </a:pPr>
            <a:r>
              <a:rPr lang="zh-CN" sz="14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원인</a:t>
            </a: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?</a:t>
            </a:r>
            <a:endParaRPr lang="en-US" sz="1400" b="1" u="none" strike="noStrike">
              <a:solidFill>
                <a:srgbClr val="ffffff"/>
              </a:solidFill>
              <a:effectLst/>
              <a:uFillTx/>
              <a:latin typeface="IBM Plex Sans"/>
            </a:endParaRPr>
          </a:p>
          <a:p>
            <a:pPr lvl="0" defTabSz="457200">
              <a:lnSpc>
                <a:spcPct val="100000"/>
              </a:lnSpc>
              <a:defRPr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0" defTabSz="457200">
              <a:lnSpc>
                <a:spcPct val="100000"/>
              </a:lnSpc>
              <a:spcAft>
                <a:spcPts val="799"/>
              </a:spcAft>
              <a:defRPr/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• CameraInfo </a:t>
            </a:r>
            <a:r>
              <a:rPr lang="zh-CN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빈 값 에러</a:t>
            </a: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: 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C270/C920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모두 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intrinsic, distortion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파라메터 정보가 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empty(0)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로 저장되어 보정 불능 상태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.</a:t>
            </a:r>
            <a:endParaRPr lang="en-US" sz="1300" b="0" u="none" strike="noStrike">
              <a:solidFill>
                <a:srgbClr val="c6c6c6"/>
              </a:solidFill>
              <a:effectLst/>
              <a:uFillTx/>
              <a:latin typeface="IBM Plex Sans"/>
            </a:endParaRPr>
          </a:p>
          <a:p>
            <a:pPr lvl="0" defTabSz="457200">
              <a:lnSpc>
                <a:spcPct val="100000"/>
              </a:lnSpc>
              <a:spcAft>
                <a:spcPts val="799"/>
              </a:spcAft>
              <a:defRPr/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• 카메라 TF 45</a:t>
            </a:r>
            <a:r>
              <a:rPr lang="zh-CN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도 오류</a:t>
            </a: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: 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Bag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파일 내 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C270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카메라의 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TF Yaw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값이 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45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도 회전된 값으로 영구 기록됨 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(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실제 하드웨어는 거의 평행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).</a:t>
            </a:r>
            <a:endParaRPr lang="en-US" sz="1300" b="0" u="none" strike="noStrike">
              <a:solidFill>
                <a:srgbClr val="c6c6c6"/>
              </a:solidFill>
              <a:effectLst/>
              <a:uFillTx/>
              <a:latin typeface="IBM Plex Sans"/>
            </a:endParaRPr>
          </a:p>
          <a:p>
            <a:pPr lvl="0" defTabSz="457200">
              <a:lnSpc>
                <a:spcPct val="100000"/>
              </a:lnSpc>
              <a:spcAft>
                <a:spcPts val="799"/>
              </a:spcAft>
              <a:defRPr/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• odom </a:t>
            </a:r>
            <a:r>
              <a:rPr lang="zh-CN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원점 불일치</a:t>
            </a: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: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각 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ROS bag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파일마다 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odom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의 절대 기준 좌표계가 달라 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merge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가 어려움</a:t>
            </a:r>
            <a:endParaRPr lang="zh-CN" sz="1300" b="0" u="none" strike="noStrike">
              <a:solidFill>
                <a:srgbClr val="c6c6c6"/>
              </a:solidFill>
              <a:effectLst/>
              <a:uFillTx/>
              <a:latin typeface="IBM Plex Sans"/>
            </a:endParaRPr>
          </a:p>
          <a:p>
            <a:pPr lvl="0" defTabSz="457200">
              <a:lnSpc>
                <a:spcPct val="100000"/>
              </a:lnSpc>
              <a:spcAft>
                <a:spcPts val="799"/>
              </a:spcAft>
              <a:defRPr/>
            </a:pP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Rectangle 8"/>
          <p:cNvSpPr/>
          <p:nvPr/>
        </p:nvSpPr>
        <p:spPr>
          <a:xfrm>
            <a:off x="6309360" y="1554480"/>
            <a:ext cx="5119920" cy="4571280"/>
          </a:xfrm>
          <a:prstGeom prst="rect">
            <a:avLst/>
          </a:prstGeom>
          <a:solidFill>
            <a:srgbClr val="262626"/>
          </a:solidFill>
          <a:ln w="12700">
            <a:solidFill>
              <a:srgbClr val="39393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5" name="Rectangle 9"/>
          <p:cNvSpPr/>
          <p:nvPr/>
        </p:nvSpPr>
        <p:spPr>
          <a:xfrm>
            <a:off x="6309360" y="1554480"/>
            <a:ext cx="72360" cy="4571280"/>
          </a:xfrm>
          <a:prstGeom prst="rect">
            <a:avLst/>
          </a:prstGeom>
          <a:solidFill>
            <a:srgbClr val="39393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360" tIns="45000" rIns="363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36" name="Picture 10" descr="기존_ICP_merge_결과.jpeg"/>
          <p:cNvPicPr/>
          <p:nvPr/>
        </p:nvPicPr>
        <p:blipFill>
          <a:blip r:embed="rId2"/>
          <a:stretch/>
        </p:blipFill>
        <p:spPr>
          <a:xfrm>
            <a:off x="6492240" y="1737360"/>
            <a:ext cx="4754160" cy="3474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7" name="TextBox 11"/>
          <p:cNvSpPr/>
          <p:nvPr/>
        </p:nvSpPr>
        <p:spPr>
          <a:xfrm>
            <a:off x="6492240" y="5303520"/>
            <a:ext cx="475416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D8D8D"/>
                </a:solidFill>
                <a:effectLst/>
                <a:uFillTx/>
                <a:latin typeface="IBM Plex Sans"/>
              </a:rPr>
              <a:t>▲ 기존 </a:t>
            </a:r>
            <a:r>
              <a:rPr lang="en-US" sz="1100" b="0" u="none" strike="noStrike">
                <a:solidFill>
                  <a:srgbClr val="8D8D8D"/>
                </a:solidFill>
                <a:effectLst/>
                <a:uFillTx/>
                <a:latin typeface="IBM Plex Sans"/>
              </a:rPr>
              <a:t>ICP merge </a:t>
            </a:r>
            <a:r>
              <a:rPr lang="zh-CN" sz="1100" b="0" u="none" strike="noStrike">
                <a:solidFill>
                  <a:srgbClr val="8D8D8D"/>
                </a:solidFill>
                <a:effectLst/>
                <a:uFillTx/>
                <a:latin typeface="IBM Plex Sans"/>
              </a:rPr>
              <a:t>결과</a:t>
            </a:r>
            <a:r>
              <a:rPr lang="en-US" sz="1100" b="0" u="none" strike="noStrike">
                <a:solidFill>
                  <a:srgbClr val="8D8D8D"/>
                </a:solidFill>
                <a:effectLst/>
                <a:uFillTx/>
                <a:latin typeface="IBM Plex Sans"/>
              </a:rPr>
              <a:t>: </a:t>
            </a:r>
            <a:r>
              <a:rPr lang="zh-CN" sz="1100" b="0" u="none" strike="noStrike">
                <a:solidFill>
                  <a:srgbClr val="8D8D8D"/>
                </a:solidFill>
                <a:effectLst/>
                <a:uFillTx/>
                <a:latin typeface="IBM Plex Sans"/>
              </a:rPr>
              <a:t>구조가 뭉개져 안개처럼 흩뿌려짐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Box 1"/>
          <p:cNvSpPr/>
          <p:nvPr/>
        </p:nvSpPr>
        <p:spPr>
          <a:xfrm>
            <a:off x="731520" y="594360"/>
            <a:ext cx="1072800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24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실패 원인 분석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spd="med" mc:Ignorable="p14" p14:dur="2000"/>
    </mc:Choice>
    <mc:Fallback>
      <p:transition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Rectangle 20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1616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0" name="TextBox 12"/>
          <p:cNvSpPr/>
          <p:nvPr/>
        </p:nvSpPr>
        <p:spPr>
          <a:xfrm>
            <a:off x="731520" y="365760"/>
            <a:ext cx="1072800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8D8D8D"/>
                </a:solidFill>
                <a:effectLst/>
                <a:uFillTx/>
                <a:latin typeface="IBM Plex Sans"/>
              </a:rPr>
              <a:t>04 // DIAGNOSIS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Box 13"/>
          <p:cNvSpPr/>
          <p:nvPr/>
        </p:nvSpPr>
        <p:spPr>
          <a:xfrm>
            <a:off x="731520" y="594360"/>
            <a:ext cx="1072800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Rectangle 21"/>
          <p:cNvSpPr/>
          <p:nvPr/>
        </p:nvSpPr>
        <p:spPr>
          <a:xfrm>
            <a:off x="731520" y="1188720"/>
            <a:ext cx="10728000" cy="17640"/>
          </a:xfrm>
          <a:prstGeom prst="rect">
            <a:avLst/>
          </a:prstGeom>
          <a:solidFill>
            <a:srgbClr val="39393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3" name="Rectangle 22"/>
          <p:cNvSpPr/>
          <p:nvPr/>
        </p:nvSpPr>
        <p:spPr>
          <a:xfrm>
            <a:off x="731520" y="1554480"/>
            <a:ext cx="5119920" cy="4571280"/>
          </a:xfrm>
          <a:prstGeom prst="rect">
            <a:avLst/>
          </a:prstGeom>
          <a:solidFill>
            <a:srgbClr val="262626"/>
          </a:solidFill>
          <a:ln w="12700">
            <a:solidFill>
              <a:srgbClr val="39393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4" name="Rectangle 23"/>
          <p:cNvSpPr/>
          <p:nvPr/>
        </p:nvSpPr>
        <p:spPr>
          <a:xfrm>
            <a:off x="731520" y="1554480"/>
            <a:ext cx="72360" cy="4571280"/>
          </a:xfrm>
          <a:prstGeom prst="rect">
            <a:avLst/>
          </a:prstGeom>
          <a:solidFill>
            <a:srgbClr val="DA1E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360" tIns="45000" rIns="363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5" name="TextBox 15"/>
          <p:cNvSpPr/>
          <p:nvPr/>
        </p:nvSpPr>
        <p:spPr>
          <a:xfrm>
            <a:off x="1005840" y="1737360"/>
            <a:ext cx="4571280" cy="426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2001"/>
              </a:spcAft>
            </a:pPr>
            <a:r>
              <a:rPr lang="en-US" sz="1200" b="1" u="none" strike="noStrike">
                <a:solidFill>
                  <a:srgbClr val="DA1E28"/>
                </a:solidFill>
                <a:effectLst/>
                <a:uFillTx/>
                <a:latin typeface="Calibri"/>
              </a:rPr>
              <a:t>POINTCLOUD FAILURES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zh-CN" sz="14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다시 시도해본 </a:t>
            </a: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stereo matching: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Camera_info, TF, odom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이슈를 해결하고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, </a:t>
            </a:r>
            <a:br>
              <a:rPr sz="1300"/>
            </a:b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rectification → disparity map → 3D back proj.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의 정석 방법을 시도해보았지만 여전히 결과가 좋지않다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zh-CN" sz="14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원인</a:t>
            </a: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?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• baseline</a:t>
            </a:r>
            <a:r>
              <a:rPr lang="zh-CN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이 터무니없이 작음 →두 카메라의 </a:t>
            </a: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disparity</a:t>
            </a:r>
            <a:r>
              <a:rPr lang="zh-CN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자체가 적다</a:t>
            </a: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: 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baseline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이 실측 기준 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10cm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조차 되지 않는다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!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• distinct</a:t>
            </a:r>
            <a:r>
              <a:rPr lang="zh-CN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한 두개의 카메라</a:t>
            </a: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: 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HW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이슈로 서로 다른 카메라를 사용하며 화각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,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색감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,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노출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,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렌즈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,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해상도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,...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모두 다른 두개의 카메라를 합치는데 어려움이 있었다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• turtlebot platform</a:t>
            </a:r>
            <a:r>
              <a:rPr lang="zh-CN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의 한계</a:t>
            </a: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: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바닥 중심의 저각도 시야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, texture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부족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,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빛반사 등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Rectangle 24"/>
          <p:cNvSpPr/>
          <p:nvPr/>
        </p:nvSpPr>
        <p:spPr>
          <a:xfrm>
            <a:off x="6309360" y="1554480"/>
            <a:ext cx="5119920" cy="4571280"/>
          </a:xfrm>
          <a:prstGeom prst="rect">
            <a:avLst/>
          </a:prstGeom>
          <a:solidFill>
            <a:srgbClr val="262626"/>
          </a:solidFill>
          <a:ln w="12700">
            <a:solidFill>
              <a:srgbClr val="39393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7" name="Rectangle 25"/>
          <p:cNvSpPr/>
          <p:nvPr/>
        </p:nvSpPr>
        <p:spPr>
          <a:xfrm>
            <a:off x="6309360" y="1554480"/>
            <a:ext cx="72360" cy="4571280"/>
          </a:xfrm>
          <a:prstGeom prst="rect">
            <a:avLst/>
          </a:prstGeom>
          <a:solidFill>
            <a:srgbClr val="39393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360" tIns="45000" rIns="363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8" name="TextBox 16"/>
          <p:cNvSpPr/>
          <p:nvPr/>
        </p:nvSpPr>
        <p:spPr>
          <a:xfrm>
            <a:off x="6447240" y="5775840"/>
            <a:ext cx="4754160" cy="33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D8D8D"/>
                </a:solidFill>
                <a:effectLst/>
                <a:uFillTx/>
                <a:latin typeface="IBM Plex Sans"/>
              </a:rPr>
              <a:t>▲ camera info, TF, odom </a:t>
            </a:r>
            <a:r>
              <a:rPr lang="zh-CN" sz="1100" b="0" u="none" strike="noStrike">
                <a:solidFill>
                  <a:srgbClr val="8D8D8D"/>
                </a:solidFill>
                <a:effectLst/>
                <a:uFillTx/>
                <a:latin typeface="IBM Plex Sans"/>
              </a:rPr>
              <a:t>등 수정하여 다시 진행한 </a:t>
            </a:r>
            <a:r>
              <a:rPr lang="en-US" sz="1100" b="0" u="none" strike="noStrike">
                <a:solidFill>
                  <a:srgbClr val="8D8D8D"/>
                </a:solidFill>
                <a:effectLst/>
                <a:uFillTx/>
                <a:latin typeface="IBM Plex Sans"/>
              </a:rPr>
              <a:t>stereo matching</a:t>
            </a:r>
            <a:br>
              <a:rPr sz="1100"/>
            </a:br>
            <a:r>
              <a:rPr lang="zh-CN" sz="1100" b="0" u="none" strike="noStrike">
                <a:solidFill>
                  <a:srgbClr val="8D8D8D"/>
                </a:solidFill>
                <a:effectLst/>
                <a:uFillTx/>
                <a:latin typeface="IBM Plex Sans"/>
              </a:rPr>
              <a:t>ㄴ </a:t>
            </a:r>
            <a:r>
              <a:rPr lang="en-US" sz="1100" b="0" u="none" strike="noStrike">
                <a:solidFill>
                  <a:srgbClr val="8D8D8D"/>
                </a:solidFill>
                <a:effectLst/>
                <a:uFillTx/>
                <a:latin typeface="IBM Plex Sans"/>
              </a:rPr>
              <a:t>global </a:t>
            </a:r>
            <a:r>
              <a:rPr lang="zh-CN" sz="1100" b="0" u="none" strike="noStrike">
                <a:solidFill>
                  <a:srgbClr val="8D8D8D"/>
                </a:solidFill>
                <a:effectLst/>
                <a:uFillTx/>
                <a:latin typeface="IBM Plex Sans"/>
              </a:rPr>
              <a:t>한 </a:t>
            </a:r>
            <a:r>
              <a:rPr lang="en-US" sz="1100" b="0" u="none" strike="noStrike">
                <a:solidFill>
                  <a:srgbClr val="8D8D8D"/>
                </a:solidFill>
                <a:effectLst/>
                <a:uFillTx/>
                <a:latin typeface="IBM Plex Sans"/>
              </a:rPr>
              <a:t>3D point cloud</a:t>
            </a:r>
            <a:r>
              <a:rPr lang="zh-CN" sz="1100" b="0" u="none" strike="noStrike">
                <a:solidFill>
                  <a:srgbClr val="8D8D8D"/>
                </a:solidFill>
                <a:effectLst/>
                <a:uFillTx/>
                <a:latin typeface="IBM Plex Sans"/>
              </a:rPr>
              <a:t>가 아닌 </a:t>
            </a:r>
            <a:r>
              <a:rPr lang="en-US" sz="1100" b="0" u="none" strike="noStrike">
                <a:solidFill>
                  <a:srgbClr val="8D8D8D"/>
                </a:solidFill>
                <a:effectLst/>
                <a:uFillTx/>
                <a:latin typeface="IBM Plex Sans"/>
              </a:rPr>
              <a:t>sparse</a:t>
            </a:r>
            <a:r>
              <a:rPr lang="zh-CN" sz="1100" b="0" u="none" strike="noStrike">
                <a:solidFill>
                  <a:srgbClr val="8D8D8D"/>
                </a:solidFill>
                <a:effectLst/>
                <a:uFillTx/>
                <a:latin typeface="IBM Plex Sans"/>
              </a:rPr>
              <a:t>한 </a:t>
            </a:r>
            <a:r>
              <a:rPr lang="en-US" sz="1100" b="0" u="none" strike="noStrike">
                <a:solidFill>
                  <a:srgbClr val="8D8D8D"/>
                </a:solidFill>
                <a:effectLst/>
                <a:uFillTx/>
                <a:latin typeface="IBM Plex Sans"/>
              </a:rPr>
              <a:t>pc</a:t>
            </a:r>
            <a:r>
              <a:rPr lang="zh-CN" sz="1100" b="0" u="none" strike="noStrike">
                <a:solidFill>
                  <a:srgbClr val="8D8D8D"/>
                </a:solidFill>
                <a:effectLst/>
                <a:uFillTx/>
                <a:latin typeface="IBM Plex Sans"/>
              </a:rPr>
              <a:t>가 도출됨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Box 17"/>
          <p:cNvSpPr/>
          <p:nvPr/>
        </p:nvSpPr>
        <p:spPr>
          <a:xfrm>
            <a:off x="731520" y="594360"/>
            <a:ext cx="1072800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Retry?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0" name=""/>
          <p:cNvPicPr/>
          <p:nvPr/>
        </p:nvPicPr>
        <p:blipFill>
          <a:blip r:embed="rId1"/>
          <a:stretch/>
        </p:blipFill>
        <p:spPr>
          <a:xfrm rot="21597000">
            <a:off x="6402240" y="1606680"/>
            <a:ext cx="4604760" cy="4106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1616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2" name="TextBox 2"/>
          <p:cNvSpPr/>
          <p:nvPr/>
        </p:nvSpPr>
        <p:spPr>
          <a:xfrm>
            <a:off x="731520" y="365760"/>
            <a:ext cx="107280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8D8D8D"/>
                </a:solidFill>
                <a:effectLst/>
                <a:uFillTx/>
                <a:latin typeface="IBM Plex Sans"/>
              </a:rPr>
              <a:t>06 // VISUALIZATION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Box 3"/>
          <p:cNvSpPr/>
          <p:nvPr/>
        </p:nvSpPr>
        <p:spPr>
          <a:xfrm>
            <a:off x="731520" y="594360"/>
            <a:ext cx="1072800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Another way - </a:t>
            </a:r>
            <a:r>
              <a:rPr lang="zh-CN" sz="24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파노라마 스티칭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Rectangle 4"/>
          <p:cNvSpPr/>
          <p:nvPr/>
        </p:nvSpPr>
        <p:spPr>
          <a:xfrm>
            <a:off x="731520" y="1188720"/>
            <a:ext cx="10728000" cy="17640"/>
          </a:xfrm>
          <a:prstGeom prst="rect">
            <a:avLst/>
          </a:prstGeom>
          <a:solidFill>
            <a:srgbClr val="39393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5" name="Rectangle 5"/>
          <p:cNvSpPr/>
          <p:nvPr/>
        </p:nvSpPr>
        <p:spPr>
          <a:xfrm>
            <a:off x="731520" y="1554480"/>
            <a:ext cx="5119920" cy="4571280"/>
          </a:xfrm>
          <a:prstGeom prst="rect">
            <a:avLst/>
          </a:prstGeom>
          <a:solidFill>
            <a:srgbClr val="262626"/>
          </a:solidFill>
          <a:ln w="12700">
            <a:solidFill>
              <a:srgbClr val="39393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6" name="Rectangle 6"/>
          <p:cNvSpPr/>
          <p:nvPr/>
        </p:nvSpPr>
        <p:spPr>
          <a:xfrm>
            <a:off x="731520" y="1554480"/>
            <a:ext cx="72360" cy="4571280"/>
          </a:xfrm>
          <a:prstGeom prst="rect">
            <a:avLst/>
          </a:prstGeom>
          <a:solidFill>
            <a:srgbClr val="0F62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360" tIns="45000" rIns="363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7" name="TextBox 7"/>
          <p:cNvSpPr/>
          <p:nvPr/>
        </p:nvSpPr>
        <p:spPr>
          <a:xfrm>
            <a:off x="1005840" y="1737360"/>
            <a:ext cx="4571280" cy="163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2001"/>
              </a:spcAft>
            </a:pPr>
            <a:r>
              <a:rPr lang="en-US" sz="1200" b="1" u="none" strike="noStrike">
                <a:solidFill>
                  <a:srgbClr val="118DFF"/>
                </a:solidFill>
                <a:effectLst/>
                <a:uFillTx/>
                <a:latin typeface="Calibri"/>
              </a:rPr>
              <a:t>PANORAMIC TEXTURING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• C920 Photo Map: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획득한 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keyframe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이미지들을 로봇 궤적 노드에 배치하여 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2.5D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방식의 지도 매핑 시도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• Image Stitching </a:t>
            </a:r>
            <a:r>
              <a:rPr lang="zh-CN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도입</a:t>
            </a: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: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연속된 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C920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프레임들을 이미지 스티칭으로 정교하게 이어 붙여 파노라마 이미지를 획득함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&gt; </a:t>
            </a:r>
            <a:r>
              <a:rPr lang="zh-CN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꽤나 완성도 높은 파노라마 스티칭 이미지는 도출된다</a:t>
            </a: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Rectangle 8"/>
          <p:cNvSpPr/>
          <p:nvPr/>
        </p:nvSpPr>
        <p:spPr>
          <a:xfrm>
            <a:off x="6309360" y="1554480"/>
            <a:ext cx="5119920" cy="4571280"/>
          </a:xfrm>
          <a:prstGeom prst="rect">
            <a:avLst/>
          </a:prstGeom>
          <a:solidFill>
            <a:srgbClr val="262626"/>
          </a:solidFill>
          <a:ln w="12700">
            <a:solidFill>
              <a:srgbClr val="39393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9" name="Rectangle 9"/>
          <p:cNvSpPr/>
          <p:nvPr/>
        </p:nvSpPr>
        <p:spPr>
          <a:xfrm>
            <a:off x="6309360" y="1554480"/>
            <a:ext cx="72360" cy="4571280"/>
          </a:xfrm>
          <a:prstGeom prst="rect">
            <a:avLst/>
          </a:prstGeom>
          <a:solidFill>
            <a:srgbClr val="39393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360" tIns="45000" rIns="363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60" name="Picture 10" descr="Multi_node_stitched_tour.jpeg"/>
          <p:cNvPicPr/>
          <p:nvPr/>
        </p:nvPicPr>
        <p:blipFill>
          <a:blip r:embed="rId1"/>
          <a:stretch/>
        </p:blipFill>
        <p:spPr>
          <a:xfrm>
            <a:off x="6492240" y="1737360"/>
            <a:ext cx="4754160" cy="3474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1" name="TextBox 11"/>
          <p:cNvSpPr/>
          <p:nvPr/>
        </p:nvSpPr>
        <p:spPr>
          <a:xfrm>
            <a:off x="6492240" y="5303520"/>
            <a:ext cx="475416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D8D8D"/>
                </a:solidFill>
                <a:effectLst/>
                <a:uFillTx/>
                <a:latin typeface="IBM Plex Sans"/>
              </a:rPr>
              <a:t>▲ Multi-node panorama stitched tour WebGL viewer </a:t>
            </a:r>
            <a:r>
              <a:rPr lang="zh-CN" sz="1100" b="0" u="none" strike="noStrike">
                <a:solidFill>
                  <a:srgbClr val="8D8D8D"/>
                </a:solidFill>
                <a:effectLst/>
                <a:uFillTx/>
                <a:latin typeface="IBM Plex Sans"/>
              </a:rPr>
              <a:t>시뮬레이션 화면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2" name=""/>
          <p:cNvPicPr/>
          <p:nvPr/>
        </p:nvPicPr>
        <p:blipFill>
          <a:blip r:embed="rId2"/>
          <a:stretch/>
        </p:blipFill>
        <p:spPr>
          <a:xfrm>
            <a:off x="878400" y="3429000"/>
            <a:ext cx="4973040" cy="2794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Rectangle 26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1616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4" name="TextBox 18"/>
          <p:cNvSpPr/>
          <p:nvPr/>
        </p:nvSpPr>
        <p:spPr>
          <a:xfrm>
            <a:off x="731520" y="365760"/>
            <a:ext cx="1072800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8D8D8D"/>
                </a:solidFill>
                <a:effectLst/>
                <a:uFillTx/>
                <a:latin typeface="IBM Plex Sans"/>
              </a:rPr>
              <a:t>05 // VISION TEAM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Box 19"/>
          <p:cNvSpPr/>
          <p:nvPr/>
        </p:nvSpPr>
        <p:spPr>
          <a:xfrm>
            <a:off x="731520" y="594360"/>
            <a:ext cx="1072800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 Another way? – Lidar </a:t>
            </a:r>
            <a:r>
              <a:rPr lang="zh-CN" sz="24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결과 분석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Rectangle 27"/>
          <p:cNvSpPr/>
          <p:nvPr/>
        </p:nvSpPr>
        <p:spPr>
          <a:xfrm>
            <a:off x="731520" y="1188720"/>
            <a:ext cx="10728000" cy="17640"/>
          </a:xfrm>
          <a:prstGeom prst="rect">
            <a:avLst/>
          </a:prstGeom>
          <a:solidFill>
            <a:srgbClr val="39393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7" name="Rectangle 28"/>
          <p:cNvSpPr/>
          <p:nvPr/>
        </p:nvSpPr>
        <p:spPr>
          <a:xfrm>
            <a:off x="731520" y="1554480"/>
            <a:ext cx="5119920" cy="4571280"/>
          </a:xfrm>
          <a:prstGeom prst="rect">
            <a:avLst/>
          </a:prstGeom>
          <a:solidFill>
            <a:srgbClr val="262626"/>
          </a:solidFill>
          <a:ln w="12700">
            <a:solidFill>
              <a:srgbClr val="39393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8" name="Rectangle 29"/>
          <p:cNvSpPr/>
          <p:nvPr/>
        </p:nvSpPr>
        <p:spPr>
          <a:xfrm>
            <a:off x="731520" y="1554480"/>
            <a:ext cx="72360" cy="4571280"/>
          </a:xfrm>
          <a:prstGeom prst="rect">
            <a:avLst/>
          </a:prstGeom>
          <a:solidFill>
            <a:srgbClr val="0F62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360" tIns="45000" rIns="363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9" name="TextBox 20"/>
          <p:cNvSpPr/>
          <p:nvPr/>
        </p:nvSpPr>
        <p:spPr>
          <a:xfrm>
            <a:off x="1005840" y="1737360"/>
            <a:ext cx="4571280" cy="212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2001"/>
              </a:spcAft>
            </a:pPr>
            <a:r>
              <a:rPr lang="en-US" sz="1200" b="1" u="none" strike="noStrike">
                <a:solidFill>
                  <a:srgbClr val="118DFF"/>
                </a:solidFill>
                <a:effectLst/>
                <a:uFillTx/>
                <a:latin typeface="Calibri"/>
              </a:rPr>
              <a:t>LIDAR </a:t>
            </a:r>
            <a:r>
              <a:rPr lang="zh-CN" sz="1200" b="1" u="none" strike="noStrike">
                <a:solidFill>
                  <a:srgbClr val="118DFF"/>
                </a:solidFill>
                <a:effectLst/>
                <a:uFillTx/>
                <a:latin typeface="Calibri"/>
              </a:rPr>
              <a:t>기반 </a:t>
            </a:r>
            <a:r>
              <a:rPr lang="en-US" sz="1200" b="1" u="none" strike="noStrike">
                <a:solidFill>
                  <a:srgbClr val="118DFF"/>
                </a:solidFill>
                <a:effectLst/>
                <a:uFillTx/>
                <a:latin typeface="Calibri"/>
              </a:rPr>
              <a:t>MAPPING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•방향 전환</a:t>
            </a: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: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신뢰할 수 있는 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LDS-01 LiDAR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데이터를 구조적 뼈대로 쓰기로 선회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• Filtering: 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 LiDAR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에러값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(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최장거리 바운더리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)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필터링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• 3D Wall Extrusion: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추출한 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floorplan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을 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2.2m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높이의 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3D mesh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로 수직 압출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(extrude)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하여 입체감 확보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&gt;&gt;</a:t>
            </a:r>
            <a:br>
              <a:rPr sz="1300"/>
            </a:b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거창하게 써놨지만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, 2D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라이다라 억지로 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3D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로 늘렸다는 뜻이다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Rectangle 30"/>
          <p:cNvSpPr/>
          <p:nvPr/>
        </p:nvSpPr>
        <p:spPr>
          <a:xfrm>
            <a:off x="6309360" y="1554480"/>
            <a:ext cx="5119920" cy="4571280"/>
          </a:xfrm>
          <a:prstGeom prst="rect">
            <a:avLst/>
          </a:prstGeom>
          <a:solidFill>
            <a:srgbClr val="262626"/>
          </a:solidFill>
          <a:ln w="12700">
            <a:solidFill>
              <a:srgbClr val="39393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1" name="Rectangle 31"/>
          <p:cNvSpPr/>
          <p:nvPr/>
        </p:nvSpPr>
        <p:spPr>
          <a:xfrm>
            <a:off x="6309360" y="1554480"/>
            <a:ext cx="72360" cy="4571280"/>
          </a:xfrm>
          <a:prstGeom prst="rect">
            <a:avLst/>
          </a:prstGeom>
          <a:solidFill>
            <a:srgbClr val="39393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360" tIns="45000" rIns="363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72" name="Picture 3" descr="LiDAR_true_3D_scene.jpeg"/>
          <p:cNvPicPr/>
          <p:nvPr/>
        </p:nvPicPr>
        <p:blipFill>
          <a:blip r:embed="rId1"/>
          <a:stretch/>
        </p:blipFill>
        <p:spPr>
          <a:xfrm>
            <a:off x="6492240" y="1737360"/>
            <a:ext cx="4754160" cy="3474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3" name="TextBox 21"/>
          <p:cNvSpPr/>
          <p:nvPr/>
        </p:nvSpPr>
        <p:spPr>
          <a:xfrm>
            <a:off x="6492240" y="5303520"/>
            <a:ext cx="475416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D8D8D"/>
                </a:solidFill>
                <a:effectLst/>
                <a:uFillTx/>
                <a:latin typeface="IBM Plex Sans"/>
              </a:rPr>
              <a:t>▲ LiDAR floorplan</a:t>
            </a:r>
            <a:r>
              <a:rPr lang="zh-CN" sz="1100" b="0" u="none" strike="noStrike">
                <a:solidFill>
                  <a:srgbClr val="8D8D8D"/>
                </a:solidFill>
                <a:effectLst/>
                <a:uFillTx/>
                <a:latin typeface="IBM Plex Sans"/>
              </a:rPr>
              <a:t>을 기반으로 </a:t>
            </a:r>
            <a:r>
              <a:rPr lang="en-US" sz="1100" b="0" u="none" strike="noStrike">
                <a:solidFill>
                  <a:srgbClr val="8D8D8D"/>
                </a:solidFill>
                <a:effectLst/>
                <a:uFillTx/>
                <a:latin typeface="IBM Plex Sans"/>
              </a:rPr>
              <a:t>3D </a:t>
            </a:r>
            <a:r>
              <a:rPr lang="zh-CN" sz="1100" b="0" u="none" strike="noStrike">
                <a:solidFill>
                  <a:srgbClr val="8D8D8D"/>
                </a:solidFill>
                <a:effectLst/>
                <a:uFillTx/>
                <a:latin typeface="IBM Plex Sans"/>
              </a:rPr>
              <a:t>벽을 세우고 이동 궤적</a:t>
            </a:r>
            <a:r>
              <a:rPr lang="en-US" sz="1100" b="0" u="none" strike="noStrike">
                <a:solidFill>
                  <a:srgbClr val="8D8D8D"/>
                </a:solidFill>
                <a:effectLst/>
                <a:uFillTx/>
                <a:latin typeface="IBM Plex Sans"/>
              </a:rPr>
              <a:t>(Red)</a:t>
            </a:r>
            <a:r>
              <a:rPr lang="zh-CN" sz="1100" b="0" u="none" strike="noStrike">
                <a:solidFill>
                  <a:srgbClr val="8D8D8D"/>
                </a:solidFill>
                <a:effectLst/>
                <a:uFillTx/>
                <a:latin typeface="IBM Plex Sans"/>
              </a:rPr>
              <a:t>을 표시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1616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5" name="TextBox 2"/>
          <p:cNvSpPr/>
          <p:nvPr/>
        </p:nvSpPr>
        <p:spPr>
          <a:xfrm>
            <a:off x="731520" y="365760"/>
            <a:ext cx="107280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8D8D8D"/>
                </a:solidFill>
                <a:effectLst/>
                <a:uFillTx/>
                <a:latin typeface="IBM Plex Sans"/>
              </a:rPr>
              <a:t>07 // FINAL OUTCOME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Box 3"/>
          <p:cNvSpPr/>
          <p:nvPr/>
        </p:nvSpPr>
        <p:spPr>
          <a:xfrm>
            <a:off x="731520" y="594360"/>
            <a:ext cx="1072800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Another way – Lidar depth </a:t>
            </a:r>
            <a:r>
              <a:rPr lang="zh-CN" sz="24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기반 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image mapping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Rectangle 4"/>
          <p:cNvSpPr/>
          <p:nvPr/>
        </p:nvSpPr>
        <p:spPr>
          <a:xfrm>
            <a:off x="731520" y="1188720"/>
            <a:ext cx="10728000" cy="17640"/>
          </a:xfrm>
          <a:prstGeom prst="rect">
            <a:avLst/>
          </a:prstGeom>
          <a:solidFill>
            <a:srgbClr val="39393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8" name="Rectangle 5"/>
          <p:cNvSpPr/>
          <p:nvPr/>
        </p:nvSpPr>
        <p:spPr>
          <a:xfrm>
            <a:off x="731520" y="1554480"/>
            <a:ext cx="5119920" cy="4571280"/>
          </a:xfrm>
          <a:prstGeom prst="rect">
            <a:avLst/>
          </a:prstGeom>
          <a:solidFill>
            <a:srgbClr val="262626"/>
          </a:solidFill>
          <a:ln w="12700">
            <a:solidFill>
              <a:srgbClr val="39393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9" name="Rectangle 6"/>
          <p:cNvSpPr/>
          <p:nvPr/>
        </p:nvSpPr>
        <p:spPr>
          <a:xfrm>
            <a:off x="731520" y="1554480"/>
            <a:ext cx="72360" cy="4571280"/>
          </a:xfrm>
          <a:prstGeom prst="rect">
            <a:avLst/>
          </a:prstGeom>
          <a:solidFill>
            <a:srgbClr val="24A14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360" tIns="45000" rIns="363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0" name="TextBox 7"/>
          <p:cNvSpPr/>
          <p:nvPr/>
        </p:nvSpPr>
        <p:spPr>
          <a:xfrm>
            <a:off x="1005840" y="1737360"/>
            <a:ext cx="4571280" cy="242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2001"/>
              </a:spcAft>
            </a:pPr>
            <a:r>
              <a:rPr lang="en-US" sz="1200" b="1" u="none" strike="noStrike">
                <a:solidFill>
                  <a:srgbClr val="24A148"/>
                </a:solidFill>
                <a:effectLst/>
                <a:uFillTx/>
                <a:latin typeface="Calibri"/>
                <a:ea typeface="Noto Sans CJK SC"/>
              </a:rPr>
              <a:t>Lidar</a:t>
            </a:r>
            <a:r>
              <a:rPr lang="zh-CN" sz="1200" b="1" u="none" strike="noStrike">
                <a:solidFill>
                  <a:srgbClr val="24A148"/>
                </a:solidFill>
                <a:effectLst/>
                <a:uFillTx/>
                <a:latin typeface="Calibri"/>
                <a:ea typeface="Noto Sans CJK SC"/>
              </a:rPr>
              <a:t>센서 </a:t>
            </a:r>
            <a:r>
              <a:rPr lang="en-US" sz="1200" b="1" u="none" strike="noStrike">
                <a:solidFill>
                  <a:srgbClr val="24A148"/>
                </a:solidFill>
                <a:effectLst/>
                <a:uFillTx/>
                <a:latin typeface="Calibri"/>
                <a:ea typeface="Noto Sans CJK SC"/>
              </a:rPr>
              <a:t>depth</a:t>
            </a:r>
            <a:r>
              <a:rPr lang="zh-CN" sz="1200" b="1" u="none" strike="noStrike">
                <a:solidFill>
                  <a:srgbClr val="24A148"/>
                </a:solidFill>
                <a:effectLst/>
                <a:uFillTx/>
                <a:latin typeface="Calibri"/>
                <a:ea typeface="Noto Sans CJK SC"/>
              </a:rPr>
              <a:t>기반</a:t>
            </a:r>
            <a:r>
              <a:rPr lang="en-US" sz="1200" b="1" u="none" strike="noStrike">
                <a:solidFill>
                  <a:srgbClr val="24A148"/>
                </a:solidFill>
                <a:effectLst/>
                <a:uFillTx/>
                <a:latin typeface="Calibri"/>
                <a:ea typeface="Noto Sans CJK SC"/>
              </a:rPr>
              <a:t>, </a:t>
            </a:r>
            <a:r>
              <a:rPr lang="zh-CN" sz="1200" b="1" u="none" strike="noStrike">
                <a:solidFill>
                  <a:srgbClr val="24A148"/>
                </a:solidFill>
                <a:effectLst/>
                <a:uFillTx/>
                <a:latin typeface="Calibri"/>
                <a:ea typeface="Noto Sans CJK SC"/>
              </a:rPr>
              <a:t>파노라마 이미지 매핑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• 안정적인 </a:t>
            </a: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Lidar- depth </a:t>
            </a:r>
            <a:r>
              <a:rPr lang="zh-CN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사용</a:t>
            </a: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: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라이다 센서에서 추출한 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depth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를 이용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• 이미지 매핑</a:t>
            </a: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: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수십장의 파노라마 이미지를 만든 뒤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, feature extract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를 진행하여 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depth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결과에 매핑한다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IBM Plex Sans"/>
                <a:ea typeface="Noto Sans CJK SC"/>
              </a:rPr>
              <a:t>• 한계</a:t>
            </a: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IBM Plex Sans"/>
                <a:ea typeface="Noto Sans CJK SC"/>
              </a:rPr>
              <a:t>: 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  <a:ea typeface="Noto Sans CJK SC"/>
              </a:rPr>
              <a:t>2D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  <a:ea typeface="Noto Sans CJK SC"/>
              </a:rPr>
              <a:t>라이다와 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  <a:ea typeface="Noto Sans CJK SC"/>
              </a:rPr>
              <a:t>3D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  <a:ea typeface="Noto Sans CJK SC"/>
              </a:rPr>
              <a:t>스테레오 카메라를 매핑하니 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  <a:ea typeface="Noto Sans CJK SC"/>
              </a:rPr>
              <a:t>Z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  <a:ea typeface="Noto Sans CJK SC"/>
              </a:rPr>
              <a:t>축이 맞지 않아 그렇게 좋은 결과가 나오지 않았다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  <a:ea typeface="Noto Sans CJK SC"/>
              </a:rPr>
              <a:t>.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  <a:ea typeface="Noto Sans CJK SC"/>
              </a:rPr>
              <a:t>라이다 센서의 높이를 고려하여 그 높이에 있는 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  <a:ea typeface="Noto Sans CJK SC"/>
              </a:rPr>
              <a:t>feature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  <a:ea typeface="Noto Sans CJK SC"/>
              </a:rPr>
              <a:t>만 이으려해도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  <a:ea typeface="Noto Sans CJK SC"/>
              </a:rPr>
              <a:t>,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  <a:ea typeface="Noto Sans CJK SC"/>
              </a:rPr>
              <a:t>전술한 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  <a:ea typeface="Noto Sans CJK SC"/>
              </a:rPr>
              <a:t>no texture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  <a:ea typeface="Noto Sans CJK SC"/>
              </a:rPr>
              <a:t>의 특징때문에 적은 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  <a:ea typeface="Noto Sans CJK SC"/>
              </a:rPr>
              <a:t>feature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  <a:ea typeface="Noto Sans CJK SC"/>
              </a:rPr>
              <a:t>가 나와 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  <a:ea typeface="Noto Sans CJK SC"/>
              </a:rPr>
              <a:t>mapping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  <a:ea typeface="Noto Sans CJK SC"/>
              </a:rPr>
              <a:t>이 힘들었다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  <a:ea typeface="Noto Sans CJK SC"/>
              </a:rPr>
              <a:t>.</a:t>
            </a: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Rectangle 8"/>
          <p:cNvSpPr/>
          <p:nvPr/>
        </p:nvSpPr>
        <p:spPr>
          <a:xfrm>
            <a:off x="6309360" y="1554480"/>
            <a:ext cx="5119920" cy="4571280"/>
          </a:xfrm>
          <a:prstGeom prst="rect">
            <a:avLst/>
          </a:prstGeom>
          <a:solidFill>
            <a:srgbClr val="262626"/>
          </a:solidFill>
          <a:ln w="12700">
            <a:solidFill>
              <a:srgbClr val="39393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2" name="Rectangle 9"/>
          <p:cNvSpPr/>
          <p:nvPr/>
        </p:nvSpPr>
        <p:spPr>
          <a:xfrm>
            <a:off x="6309360" y="1554480"/>
            <a:ext cx="72360" cy="4571280"/>
          </a:xfrm>
          <a:prstGeom prst="rect">
            <a:avLst/>
          </a:prstGeom>
          <a:solidFill>
            <a:srgbClr val="39393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360" tIns="45000" rIns="363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83" name="Picture 10" descr="최종_Edge_textured_3D_map_desktop.jpeg"/>
          <p:cNvPicPr/>
          <p:nvPr/>
        </p:nvPicPr>
        <p:blipFill>
          <a:blip r:embed="rId1"/>
          <a:stretch/>
        </p:blipFill>
        <p:spPr>
          <a:xfrm>
            <a:off x="6492240" y="1737360"/>
            <a:ext cx="4754160" cy="3474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4" name="TextBox 11"/>
          <p:cNvSpPr/>
          <p:nvPr/>
        </p:nvSpPr>
        <p:spPr>
          <a:xfrm>
            <a:off x="6492240" y="5303520"/>
            <a:ext cx="475416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D8D8D"/>
                </a:solidFill>
                <a:effectLst/>
                <a:uFillTx/>
                <a:latin typeface="IBM Plex Sans"/>
              </a:rPr>
              <a:t>▲ 최종 완성된 </a:t>
            </a:r>
            <a:r>
              <a:rPr lang="en-US" sz="1100" b="0" u="none" strike="noStrike">
                <a:solidFill>
                  <a:srgbClr val="8D8D8D"/>
                </a:solidFill>
                <a:effectLst/>
                <a:uFillTx/>
                <a:latin typeface="IBM Plex Sans"/>
              </a:rPr>
              <a:t>Edge-textured 3D map WebGL </a:t>
            </a:r>
            <a:r>
              <a:rPr lang="zh-CN" sz="1100" b="0" u="none" strike="noStrike">
                <a:solidFill>
                  <a:srgbClr val="8D8D8D"/>
                </a:solidFill>
                <a:effectLst/>
                <a:uFillTx/>
                <a:latin typeface="IBM Plex Sans"/>
              </a:rPr>
              <a:t>뷰어 </a:t>
            </a:r>
            <a:r>
              <a:rPr lang="en-US" sz="1100" b="0" u="none" strike="noStrike">
                <a:solidFill>
                  <a:srgbClr val="8D8D8D"/>
                </a:solidFill>
                <a:effectLst/>
                <a:uFillTx/>
                <a:latin typeface="IBM Plex Sans"/>
              </a:rPr>
              <a:t>PC </a:t>
            </a:r>
            <a:r>
              <a:rPr lang="zh-CN" sz="1100" b="0" u="none" strike="noStrike">
                <a:solidFill>
                  <a:srgbClr val="8D8D8D"/>
                </a:solidFill>
                <a:effectLst/>
                <a:uFillTx/>
                <a:latin typeface="IBM Plex Sans"/>
              </a:rPr>
              <a:t>화면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1616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6" name="TextBox 2"/>
          <p:cNvSpPr/>
          <p:nvPr/>
        </p:nvSpPr>
        <p:spPr>
          <a:xfrm>
            <a:off x="731520" y="365760"/>
            <a:ext cx="107280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8D8D8D"/>
                </a:solidFill>
                <a:effectLst/>
                <a:uFillTx/>
                <a:latin typeface="IBM Plex Sans"/>
              </a:rPr>
              <a:t>09 // RETROSPECTIVE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Box 3"/>
          <p:cNvSpPr/>
          <p:nvPr/>
        </p:nvSpPr>
        <p:spPr>
          <a:xfrm>
            <a:off x="731520" y="594360"/>
            <a:ext cx="1072800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24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프로젝트 성찰과 하드웨어적 한계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Rectangle 4"/>
          <p:cNvSpPr/>
          <p:nvPr/>
        </p:nvSpPr>
        <p:spPr>
          <a:xfrm>
            <a:off x="731520" y="1188720"/>
            <a:ext cx="10728000" cy="17640"/>
          </a:xfrm>
          <a:prstGeom prst="rect">
            <a:avLst/>
          </a:prstGeom>
          <a:solidFill>
            <a:srgbClr val="39393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9" name="Rectangle 5"/>
          <p:cNvSpPr/>
          <p:nvPr/>
        </p:nvSpPr>
        <p:spPr>
          <a:xfrm>
            <a:off x="731520" y="1554480"/>
            <a:ext cx="5119920" cy="4571280"/>
          </a:xfrm>
          <a:prstGeom prst="rect">
            <a:avLst/>
          </a:prstGeom>
          <a:solidFill>
            <a:srgbClr val="262626"/>
          </a:solidFill>
          <a:ln w="12700">
            <a:solidFill>
              <a:srgbClr val="39393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0" name="Rectangle 6"/>
          <p:cNvSpPr/>
          <p:nvPr/>
        </p:nvSpPr>
        <p:spPr>
          <a:xfrm>
            <a:off x="731520" y="1554480"/>
            <a:ext cx="72360" cy="4571280"/>
          </a:xfrm>
          <a:prstGeom prst="rect">
            <a:avLst/>
          </a:prstGeom>
          <a:solidFill>
            <a:srgbClr val="DA1E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360" tIns="45000" rIns="363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1" name="TextBox 7"/>
          <p:cNvSpPr/>
          <p:nvPr/>
        </p:nvSpPr>
        <p:spPr>
          <a:xfrm>
            <a:off x="1005840" y="1737360"/>
            <a:ext cx="4571280" cy="183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2001"/>
              </a:spcAft>
            </a:pPr>
            <a:r>
              <a:rPr lang="en-US" sz="1200" b="1" u="none" strike="noStrike">
                <a:solidFill>
                  <a:srgbClr val="DA1E28"/>
                </a:solidFill>
                <a:effectLst/>
                <a:uFillTx/>
                <a:latin typeface="Calibri"/>
              </a:rPr>
              <a:t>HARDWARE LIMITATIONS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• 극심한 배터리 소모</a:t>
            </a: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: 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3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셀 배터리를 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90%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까지 충전하고 단 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3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분 주행하자 전압 부족으로 모터가 멈추는 저배터리 문제 봉착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• 느린 주행 속도</a:t>
            </a: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: 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터틀봇의 속도로 전정대 전체를 주행하며 실시간 지도 작성을 하기엔 태생적 구동 한계 존재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• 카메라 흔들림</a:t>
            </a: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: 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3D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프린터 등으로 고정 지지대를 정밀하게 뽑지 못해 임시 고정한 카메라가 진동에 따라 미세하게 흔들림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Rectangle 8"/>
          <p:cNvSpPr/>
          <p:nvPr/>
        </p:nvSpPr>
        <p:spPr>
          <a:xfrm>
            <a:off x="6309360" y="1554480"/>
            <a:ext cx="5119920" cy="4571280"/>
          </a:xfrm>
          <a:prstGeom prst="rect">
            <a:avLst/>
          </a:prstGeom>
          <a:solidFill>
            <a:srgbClr val="262626"/>
          </a:solidFill>
          <a:ln w="12700">
            <a:solidFill>
              <a:srgbClr val="39393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3" name="Rectangle 9"/>
          <p:cNvSpPr/>
          <p:nvPr/>
        </p:nvSpPr>
        <p:spPr>
          <a:xfrm>
            <a:off x="6309360" y="1554480"/>
            <a:ext cx="72360" cy="4571280"/>
          </a:xfrm>
          <a:prstGeom prst="rect">
            <a:avLst/>
          </a:prstGeom>
          <a:solidFill>
            <a:srgbClr val="0F62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360" tIns="45000" rIns="363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4" name="TextBox 10"/>
          <p:cNvSpPr/>
          <p:nvPr/>
        </p:nvSpPr>
        <p:spPr>
          <a:xfrm>
            <a:off x="6583680" y="1737360"/>
            <a:ext cx="4571280" cy="192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2001"/>
              </a:spcAft>
            </a:pPr>
            <a:r>
              <a:rPr lang="en-US" sz="1200" b="1" u="none" strike="noStrike">
                <a:solidFill>
                  <a:srgbClr val="118DFF"/>
                </a:solidFill>
                <a:effectLst/>
                <a:uFillTx/>
                <a:latin typeface="Calibri"/>
              </a:rPr>
              <a:t>DATA ISSUES &amp; CONCLUSION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• 로깅 데이터 결함</a:t>
            </a: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: 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ROS bag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기록 후 확인 결과 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CameraInfo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데이터가 포함되지않았고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,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각 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bag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마다 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odom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원점이 통일되지 않은 난관을 후처리로 극복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• 결론 및 의의</a:t>
            </a: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: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초기의 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3D dense stereo pointcloud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복원은 한계가 뚜렷했지만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,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이미지 스티칭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, LiDAR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센서를 이용한 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2D depth map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생성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,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결합 등의 다양한 방법들을 실험해 볼 수 있었다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.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1616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6" name="Rectangle 2"/>
          <p:cNvSpPr/>
          <p:nvPr/>
        </p:nvSpPr>
        <p:spPr>
          <a:xfrm>
            <a:off x="914400" y="2011680"/>
            <a:ext cx="109080" cy="2285280"/>
          </a:xfrm>
          <a:prstGeom prst="rect">
            <a:avLst/>
          </a:prstGeom>
          <a:solidFill>
            <a:srgbClr val="0F62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tIns="45000" rIns="5472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7" name="TextBox 3"/>
          <p:cNvSpPr/>
          <p:nvPr/>
        </p:nvSpPr>
        <p:spPr>
          <a:xfrm>
            <a:off x="1188720" y="1920240"/>
            <a:ext cx="10057680" cy="137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54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Q &amp; A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zh-CN" sz="18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질문 및 답변 시간 </a:t>
            </a:r>
            <a:r>
              <a:rPr lang="en-US" sz="18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// </a:t>
            </a:r>
            <a:r>
              <a:rPr lang="zh-CN" sz="18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발표를 경청해주셔서 감사합니다</a:t>
            </a:r>
            <a:r>
              <a:rPr lang="en-US" sz="18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926</ep:Words>
  <ep:PresentationFormat/>
  <ep:Paragraphs>200</ep:Paragraphs>
  <ep:Slides>13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ep:HeadingPairs>
  <ep:TitlesOfParts>
    <vt:vector size="14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2013-01-27T09:14:16.000</dcterms:created>
  <dc:description>generated using python-pptx</dc:description>
  <cp:lastModifiedBy>hj</cp:lastModifiedBy>
  <dcterms:modified xsi:type="dcterms:W3CDTF">2026-06-06T07:21:40.214</dcterms:modified>
  <cp:revision>9</cp:revision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